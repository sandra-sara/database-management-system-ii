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0"/>
  </p:notesMasterIdLst>
  <p:handoutMasterIdLst>
    <p:handoutMasterId r:id="rId51"/>
  </p:handoutMasterIdLst>
  <p:sldIdLst>
    <p:sldId id="304" r:id="rId2"/>
    <p:sldId id="256" r:id="rId3"/>
    <p:sldId id="475" r:id="rId4"/>
    <p:sldId id="476" r:id="rId5"/>
    <p:sldId id="257" r:id="rId6"/>
    <p:sldId id="305" r:id="rId7"/>
    <p:sldId id="261" r:id="rId8"/>
    <p:sldId id="295" r:id="rId9"/>
    <p:sldId id="296" r:id="rId10"/>
    <p:sldId id="301" r:id="rId11"/>
    <p:sldId id="302" r:id="rId12"/>
    <p:sldId id="329" r:id="rId13"/>
    <p:sldId id="477" r:id="rId14"/>
    <p:sldId id="262" r:id="rId15"/>
    <p:sldId id="263" r:id="rId16"/>
    <p:sldId id="264" r:id="rId17"/>
    <p:sldId id="265" r:id="rId18"/>
    <p:sldId id="330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321" r:id="rId27"/>
    <p:sldId id="332" r:id="rId28"/>
    <p:sldId id="274" r:id="rId29"/>
    <p:sldId id="275" r:id="rId30"/>
    <p:sldId id="322" r:id="rId31"/>
    <p:sldId id="323" r:id="rId32"/>
    <p:sldId id="333" r:id="rId33"/>
    <p:sldId id="276" r:id="rId34"/>
    <p:sldId id="324" r:id="rId35"/>
    <p:sldId id="277" r:id="rId36"/>
    <p:sldId id="278" r:id="rId37"/>
    <p:sldId id="331" r:id="rId38"/>
    <p:sldId id="279" r:id="rId39"/>
    <p:sldId id="300" r:id="rId40"/>
    <p:sldId id="280" r:id="rId41"/>
    <p:sldId id="334" r:id="rId42"/>
    <p:sldId id="298" r:id="rId43"/>
    <p:sldId id="326" r:id="rId44"/>
    <p:sldId id="325" r:id="rId45"/>
    <p:sldId id="328" r:id="rId46"/>
    <p:sldId id="335" r:id="rId47"/>
    <p:sldId id="293" r:id="rId48"/>
    <p:sldId id="474" r:id="rId49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68" autoAdjust="0"/>
    <p:restoredTop sz="94737" autoAdjust="0"/>
  </p:normalViewPr>
  <p:slideViewPr>
    <p:cSldViewPr snapToGrid="0">
      <p:cViewPr varScale="1">
        <p:scale>
          <a:sx n="82" d="100"/>
          <a:sy n="82" d="100"/>
        </p:scale>
        <p:origin x="1354" y="67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B3E73BA6-24E8-8145-9F5A-4ACCA0B06F99}" type="slidenum">
              <a:rPr lang="en-US" sz="1200">
                <a:latin typeface="Times New Roman" charset="0"/>
              </a:rPr>
              <a:pPr/>
              <a:t>1</a:t>
            </a:fld>
            <a:endParaRPr lang="en-US" sz="1200">
              <a:latin typeface="Times New Roman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70D1DD48-632D-A149-9F49-6E0FA8ED88FB}" type="slidenum">
              <a:rPr lang="en-US" sz="1200">
                <a:latin typeface="Times New Roman" charset="0"/>
              </a:rPr>
              <a:pPr/>
              <a:t>2</a:t>
            </a:fld>
            <a:endParaRPr lang="en-US" sz="1200">
              <a:latin typeface="Times New Roman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7BBACB30-19B3-F749-A617-794562BAC8B5}" type="slidenum">
              <a:rPr lang="en-US" sz="1200">
                <a:latin typeface="Times New Roman" charset="0"/>
              </a:rPr>
              <a:pPr/>
              <a:t>5</a:t>
            </a:fld>
            <a:endParaRPr lang="en-US" sz="1200">
              <a:latin typeface="Times New Roman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C443A391-8DCE-FB47-A794-61A30C6B4386}" type="slidenum">
              <a:rPr lang="en-US" sz="1200">
                <a:latin typeface="Times New Roman" charset="0"/>
              </a:rPr>
              <a:pPr/>
              <a:t>6</a:t>
            </a:fld>
            <a:endParaRPr lang="en-US" sz="1200">
              <a:latin typeface="Times New Roman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BBB18CFD-4D8B-B24E-8BD1-3FE1BC4E14F1}" type="slidenum">
              <a:rPr lang="en-US" sz="1200">
                <a:latin typeface="Times New Roman" charset="0"/>
              </a:rPr>
              <a:pPr/>
              <a:t>7</a:t>
            </a:fld>
            <a:endParaRPr lang="en-US" sz="1200">
              <a:latin typeface="Times New Roman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5E4BAA18-4C9D-C049-851C-84F6EA85F646}" type="slidenum">
              <a:rPr lang="en-US" sz="1200">
                <a:latin typeface="Times New Roman" charset="0"/>
              </a:rPr>
              <a:pPr/>
              <a:t>8</a:t>
            </a:fld>
            <a:endParaRPr lang="en-US" sz="1200">
              <a:latin typeface="Times New Roman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3843BC95-6186-0840-99A1-0B91D14D8B3E}" type="slidenum">
              <a:rPr lang="en-US" sz="1200">
                <a:latin typeface="Times New Roman" charset="0"/>
              </a:rPr>
              <a:pPr/>
              <a:t>9</a:t>
            </a:fld>
            <a:endParaRPr lang="en-US" sz="1200">
              <a:latin typeface="Times New Roman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8A083B75-5A6A-5E41-9FA7-77C50486A728}" type="slidenum">
              <a:rPr lang="en-US" sz="1200">
                <a:latin typeface="Times New Roman" charset="0"/>
              </a:rPr>
              <a:pPr/>
              <a:t>10</a:t>
            </a:fld>
            <a:endParaRPr lang="en-US" sz="1200">
              <a:latin typeface="Times New Roman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8544C90C-5610-8745-8B86-F400CB60637C}" type="slidenum">
              <a:rPr lang="en-US" sz="1200">
                <a:latin typeface="Times New Roman" charset="0"/>
              </a:rPr>
              <a:pPr/>
              <a:t>11</a:t>
            </a:fld>
            <a:endParaRPr lang="en-US" sz="1200">
              <a:latin typeface="Times New Roman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FD20A4D0-EFF0-B64F-9A8F-E55984EE1193}" type="slidenum">
              <a:rPr lang="en-US" sz="1200">
                <a:latin typeface="Times New Roman" charset="0"/>
              </a:rPr>
              <a:pPr/>
              <a:t>14</a:t>
            </a:fld>
            <a:endParaRPr lang="en-US" sz="1200">
              <a:latin typeface="Times New Roman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ED02FCDE-0279-4348-BC5E-F8124D851B7C}" type="slidenum">
              <a:rPr lang="en-US" sz="1200">
                <a:latin typeface="Times New Roman" charset="0"/>
              </a:rPr>
              <a:pPr/>
              <a:t>15</a:t>
            </a:fld>
            <a:endParaRPr lang="en-US" sz="1200">
              <a:latin typeface="Times New Roman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4F7E3CD0-F1B6-7243-8E6D-2D5D48A96AA3}" type="slidenum">
              <a:rPr lang="en-US" sz="1200">
                <a:latin typeface="Times New Roman" charset="0"/>
              </a:rPr>
              <a:pPr/>
              <a:t>16</a:t>
            </a:fld>
            <a:endParaRPr lang="en-US" sz="1200">
              <a:latin typeface="Times New Roman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52ACAF09-7421-784A-B287-7D84E1AE2F42}" type="slidenum">
              <a:rPr lang="en-US" sz="1200">
                <a:latin typeface="Times New Roman" charset="0"/>
              </a:rPr>
              <a:pPr/>
              <a:t>17</a:t>
            </a:fld>
            <a:endParaRPr lang="en-US" sz="1200">
              <a:latin typeface="Times New Roman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52ACAF09-7421-784A-B287-7D84E1AE2F42}" type="slidenum">
              <a:rPr lang="en-US" sz="1200">
                <a:latin typeface="Times New Roman" charset="0"/>
              </a:rPr>
              <a:pPr/>
              <a:t>18</a:t>
            </a:fld>
            <a:endParaRPr lang="en-US" sz="1200">
              <a:latin typeface="Times New Roman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50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E6DCB250-3CED-FE4C-AAB7-42D0FE37FFBB}" type="slidenum">
              <a:rPr lang="en-US" sz="1200">
                <a:latin typeface="Times New Roman" charset="0"/>
              </a:rPr>
              <a:pPr/>
              <a:t>19</a:t>
            </a:fld>
            <a:endParaRPr lang="en-US" sz="1200">
              <a:latin typeface="Times New Roman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72463BAB-A20A-F44E-B7EF-D41F5F6E377B}" type="slidenum">
              <a:rPr lang="en-US" sz="1200">
                <a:latin typeface="Times New Roman" charset="0"/>
              </a:rPr>
              <a:pPr/>
              <a:t>20</a:t>
            </a:fld>
            <a:endParaRPr lang="en-US" sz="1200">
              <a:latin typeface="Times New Roman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D943CB17-A3C6-7E4C-9C52-0EBF0A5C85E4}" type="slidenum">
              <a:rPr lang="en-US" sz="1200">
                <a:latin typeface="Times New Roman" charset="0"/>
              </a:rPr>
              <a:pPr/>
              <a:t>21</a:t>
            </a:fld>
            <a:endParaRPr lang="en-US" sz="1200">
              <a:latin typeface="Times New Roman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5A4D8B8D-068F-ED47-AA63-60E0CFB260C1}" type="slidenum">
              <a:rPr lang="en-US" sz="1200">
                <a:latin typeface="Times New Roman" charset="0"/>
              </a:rPr>
              <a:pPr/>
              <a:t>22</a:t>
            </a:fld>
            <a:endParaRPr lang="en-US" sz="1200">
              <a:latin typeface="Times New Roman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629133D7-1D33-0C44-9DB6-9C79C2812015}" type="slidenum">
              <a:rPr lang="en-US" sz="1200">
                <a:latin typeface="Times New Roman" charset="0"/>
              </a:rPr>
              <a:pPr/>
              <a:t>23</a:t>
            </a:fld>
            <a:endParaRPr lang="en-US" sz="1200">
              <a:latin typeface="Times New Roman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17C4DEF4-221D-9846-A5C8-143AEB25C34A}" type="slidenum">
              <a:rPr lang="en-US" sz="1200">
                <a:latin typeface="Times New Roman" charset="0"/>
              </a:rPr>
              <a:pPr/>
              <a:t>24</a:t>
            </a:fld>
            <a:endParaRPr lang="en-US" sz="1200">
              <a:latin typeface="Times New Roman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2F1ED911-DF3C-844D-9B20-81ECAF36050D}" type="slidenum">
              <a:rPr lang="en-US" sz="1200">
                <a:latin typeface="Times New Roman" charset="0"/>
              </a:rPr>
              <a:pPr/>
              <a:t>25</a:t>
            </a:fld>
            <a:endParaRPr lang="en-US" sz="1200">
              <a:latin typeface="Times New Roman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7A928017-2CAD-3147-964E-C68AEA78CAFA}" type="slidenum">
              <a:rPr lang="en-US" sz="1200">
                <a:latin typeface="Times New Roman" charset="0"/>
              </a:rPr>
              <a:pPr/>
              <a:t>26</a:t>
            </a:fld>
            <a:endParaRPr lang="en-US" sz="1200">
              <a:latin typeface="Times New Roman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52FB0FB9-2C9A-5B4F-8347-48BC8C527E87}" type="slidenum">
              <a:rPr lang="en-US" sz="1200">
                <a:latin typeface="Times New Roman" charset="0"/>
              </a:rPr>
              <a:pPr/>
              <a:t>28</a:t>
            </a:fld>
            <a:endParaRPr lang="en-US" sz="1200">
              <a:latin typeface="Times New Roman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71605957-26CC-E549-8BDF-3EDA2532985B}" type="slidenum">
              <a:rPr lang="en-US" sz="1200">
                <a:latin typeface="Times New Roman" charset="0"/>
              </a:rPr>
              <a:pPr/>
              <a:t>29</a:t>
            </a:fld>
            <a:endParaRPr lang="en-US" sz="1200">
              <a:latin typeface="Times New Roman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C82623AE-89F6-3942-AD24-03C09DEBC6B8}" type="slidenum">
              <a:rPr lang="en-US" sz="1200">
                <a:latin typeface="Times New Roman" charset="0"/>
              </a:rPr>
              <a:pPr/>
              <a:t>33</a:t>
            </a:fld>
            <a:endParaRPr lang="en-US" sz="1200">
              <a:latin typeface="Times New Roman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775D8741-3A52-3C4C-81F7-86943E4854E3}" type="slidenum">
              <a:rPr lang="en-US" sz="1200">
                <a:latin typeface="Times New Roman" charset="0"/>
              </a:rPr>
              <a:pPr/>
              <a:t>35</a:t>
            </a:fld>
            <a:endParaRPr lang="en-US" sz="1200">
              <a:latin typeface="Times New Roman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323E4B7A-927A-D646-B646-3EA3652AA336}" type="slidenum">
              <a:rPr lang="en-US" sz="1200">
                <a:latin typeface="Times New Roman" charset="0"/>
              </a:rPr>
              <a:pPr/>
              <a:t>36</a:t>
            </a:fld>
            <a:endParaRPr lang="en-US" sz="1200">
              <a:latin typeface="Times New Roman" charset="0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42540D4F-8503-1649-8FDC-129B22D3E2D7}" type="slidenum">
              <a:rPr lang="en-US" sz="1200">
                <a:latin typeface="Times New Roman" charset="0"/>
              </a:rPr>
              <a:pPr/>
              <a:t>38</a:t>
            </a:fld>
            <a:endParaRPr lang="en-US" sz="1200">
              <a:latin typeface="Times New Roman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879C54C3-FE3C-BE4A-B542-949BC9287924}" type="slidenum">
              <a:rPr lang="en-US" sz="1200">
                <a:latin typeface="Times New Roman" charset="0"/>
              </a:rPr>
              <a:pPr/>
              <a:t>39</a:t>
            </a:fld>
            <a:endParaRPr lang="en-US" sz="1200">
              <a:latin typeface="Times New Roman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A2B76226-B6DF-9A43-BEE5-B9585F9284F4}" type="slidenum">
              <a:rPr lang="en-US" sz="1200">
                <a:latin typeface="Times New Roman" charset="0"/>
              </a:rPr>
              <a:pPr/>
              <a:t>40</a:t>
            </a:fld>
            <a:endParaRPr lang="en-US" sz="1200">
              <a:latin typeface="Times New Roman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42E4A919-F3CA-0B48-BAA1-DD1634E05489}" type="slidenum">
              <a:rPr lang="en-US" sz="1200">
                <a:latin typeface="Times New Roman" charset="0"/>
              </a:rPr>
              <a:pPr/>
              <a:t>42</a:t>
            </a:fld>
            <a:endParaRPr lang="en-US" sz="1200">
              <a:latin typeface="Times New Roman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2FC7366C-8061-B042-8398-528B9189A891}" type="slidenum">
              <a:rPr lang="en-US" sz="1200">
                <a:latin typeface="Times New Roman" charset="0"/>
              </a:rPr>
              <a:pPr/>
              <a:t>47</a:t>
            </a:fld>
            <a:endParaRPr lang="en-US" sz="1200">
              <a:latin typeface="Times New Roman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48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6829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13859" y="1"/>
            <a:ext cx="736829" cy="941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43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590" y="-411163"/>
            <a:ext cx="8074241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7780846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44718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20.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76898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5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D5DF75-4149-482D-A830-7958F8F75780}"/>
              </a:ext>
            </a:extLst>
          </p:cNvPr>
          <p:cNvCxnSpPr/>
          <p:nvPr userDrawn="1"/>
        </p:nvCxnSpPr>
        <p:spPr bwMode="auto">
          <a:xfrm>
            <a:off x="812732" y="801209"/>
            <a:ext cx="7707313" cy="0"/>
          </a:xfrm>
          <a:prstGeom prst="line">
            <a:avLst/>
          </a:prstGeom>
          <a:ln w="19050">
            <a:solidFill>
              <a:schemeClr val="bg1">
                <a:lumMod val="2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0"/>
            <a:ext cx="9144000" cy="126841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Chapter 20: Database System Architectures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latin typeface="Helvetica" charset="0"/>
              </a:rPr>
              <a:t>Outline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8170847" cy="5367972"/>
          </a:xfr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Centralized Database Systems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Server System Architectures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Parallel Systems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Distributed Systems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Network Types</a:t>
            </a:r>
          </a:p>
        </p:txBody>
      </p: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1538288" y="6461125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9755" y="3030350"/>
            <a:ext cx="80057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DejaVuSans"/>
              </a:rPr>
              <a:t>The </a:t>
            </a:r>
            <a:r>
              <a:rPr lang="en-US" dirty="0">
                <a:solidFill>
                  <a:srgbClr val="FF0000"/>
                </a:solidFill>
                <a:latin typeface="DejaVuSans"/>
              </a:rPr>
              <a:t>architecture of a database system is greatly </a:t>
            </a:r>
            <a:r>
              <a:rPr lang="en-US" dirty="0" smtClean="0">
                <a:solidFill>
                  <a:srgbClr val="FF0000"/>
                </a:solidFill>
                <a:latin typeface="DejaVuSans"/>
              </a:rPr>
              <a:t>influenced by </a:t>
            </a:r>
            <a:r>
              <a:rPr lang="en-US" dirty="0">
                <a:solidFill>
                  <a:srgbClr val="FF0000"/>
                </a:solidFill>
                <a:latin typeface="DejaVuSans"/>
              </a:rPr>
              <a:t>the underlying computer system on </a:t>
            </a:r>
            <a:r>
              <a:rPr lang="en-US" dirty="0">
                <a:solidFill>
                  <a:srgbClr val="333333"/>
                </a:solidFill>
                <a:latin typeface="DejaVuSans"/>
              </a:rPr>
              <a:t>which it runs</a:t>
            </a:r>
            <a:r>
              <a:rPr lang="en-US" dirty="0" smtClean="0">
                <a:solidFill>
                  <a:srgbClr val="333333"/>
                </a:solidFill>
                <a:latin typeface="DejaVuSans"/>
              </a:rPr>
              <a:t>, i.e.,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333333"/>
                </a:solidFill>
                <a:latin typeface="DejaVuSans"/>
              </a:rPr>
              <a:t>Memory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333333"/>
                </a:solidFill>
                <a:latin typeface="DejaVuSans"/>
              </a:rPr>
              <a:t>Processor architecture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333333"/>
                </a:solidFill>
                <a:latin typeface="DejaVuSans"/>
              </a:rPr>
              <a:t>networking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333333"/>
                </a:solidFill>
                <a:latin typeface="DejaVuSans"/>
              </a:rPr>
              <a:t>Requirements for parallel and distributed processing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Centralized database system</a:t>
            </a:r>
            <a:r>
              <a:rPr lang="en-US" dirty="0" smtClean="0"/>
              <a:t>: </a:t>
            </a:r>
            <a:r>
              <a:rPr lang="en-US" dirty="0"/>
              <a:t>An </a:t>
            </a:r>
            <a:r>
              <a:rPr lang="en-US" dirty="0" smtClean="0"/>
              <a:t>enterprise-scale application </a:t>
            </a:r>
            <a:r>
              <a:rPr lang="en-US" dirty="0"/>
              <a:t>that runs on a centralized database </a:t>
            </a:r>
            <a:r>
              <a:rPr lang="en-US" dirty="0" smtClean="0"/>
              <a:t>system today </a:t>
            </a:r>
            <a:r>
              <a:rPr lang="en-US" dirty="0"/>
              <a:t>may have from tens to thousands of users </a:t>
            </a:r>
            <a:r>
              <a:rPr lang="en-US" dirty="0" smtClean="0"/>
              <a:t>and database </a:t>
            </a:r>
            <a:r>
              <a:rPr lang="en-US" dirty="0"/>
              <a:t>sizes ranging from megabytes to hundreds </a:t>
            </a:r>
            <a:r>
              <a:rPr lang="en-US" dirty="0" smtClean="0"/>
              <a:t>of gigabytes. 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Parallel database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To execute tasks in parallel on large number of machines.</a:t>
            </a:r>
          </a:p>
          <a:p>
            <a:pPr lvl="1"/>
            <a:r>
              <a:rPr lang="en-US" sz="1800" dirty="0" smtClean="0"/>
              <a:t>To </a:t>
            </a:r>
            <a:r>
              <a:rPr lang="en-US" sz="1800" dirty="0"/>
              <a:t>handle </a:t>
            </a:r>
            <a:r>
              <a:rPr lang="en-US" sz="1800" dirty="0" smtClean="0"/>
              <a:t>high-end enterprise </a:t>
            </a:r>
            <a:r>
              <a:rPr lang="en-US" sz="1800" dirty="0"/>
              <a:t>applications whose requirements in terms </a:t>
            </a:r>
            <a:r>
              <a:rPr lang="en-US" sz="1800" dirty="0" smtClean="0"/>
              <a:t>of transaction </a:t>
            </a:r>
            <a:r>
              <a:rPr lang="en-US" sz="1800" dirty="0"/>
              <a:t>processing performance, time to </a:t>
            </a:r>
            <a:r>
              <a:rPr lang="en-US" sz="1800" dirty="0" smtClean="0"/>
              <a:t>process decision </a:t>
            </a:r>
            <a:r>
              <a:rPr lang="en-US" sz="1800" dirty="0"/>
              <a:t>support queries, and storage capacity could not </a:t>
            </a:r>
            <a:r>
              <a:rPr lang="en-US" sz="1800" dirty="0" smtClean="0"/>
              <a:t>be met </a:t>
            </a:r>
            <a:r>
              <a:rPr lang="en-US" sz="1800" dirty="0"/>
              <a:t>by centralized databases</a:t>
            </a:r>
            <a:r>
              <a:rPr lang="en-US" sz="1800" dirty="0" smtClean="0"/>
              <a:t>.</a:t>
            </a:r>
          </a:p>
          <a:p>
            <a:pPr lvl="1"/>
            <a:r>
              <a:rPr lang="en-US" sz="1800" dirty="0" smtClean="0"/>
              <a:t>Not enterprise application but web-scale applications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87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Distributed database</a:t>
            </a:r>
            <a:r>
              <a:rPr lang="en-US" dirty="0" smtClean="0"/>
              <a:t>: </a:t>
            </a:r>
            <a:r>
              <a:rPr lang="en-US" dirty="0"/>
              <a:t>D</a:t>
            </a:r>
            <a:r>
              <a:rPr lang="en-US" dirty="0" smtClean="0"/>
              <a:t>ata </a:t>
            </a:r>
            <a:r>
              <a:rPr lang="en-US" dirty="0"/>
              <a:t>are often generated and stored on </a:t>
            </a:r>
            <a:r>
              <a:rPr lang="en-US" dirty="0" smtClean="0"/>
              <a:t>different database </a:t>
            </a:r>
            <a:r>
              <a:rPr lang="en-US" dirty="0"/>
              <a:t>systems, and there is a need to execute </a:t>
            </a:r>
            <a:r>
              <a:rPr lang="en-US" dirty="0" smtClean="0"/>
              <a:t>queries and </a:t>
            </a:r>
            <a:r>
              <a:rPr lang="en-US" dirty="0"/>
              <a:t>update transactions across multiple databases</a:t>
            </a:r>
            <a:r>
              <a:rPr lang="en-US" dirty="0" smtClean="0"/>
              <a:t>.</a:t>
            </a:r>
          </a:p>
          <a:p>
            <a:pPr lvl="1"/>
            <a:r>
              <a:rPr lang="en-US" sz="1800" dirty="0"/>
              <a:t>fault tolerance in </a:t>
            </a:r>
            <a:r>
              <a:rPr lang="en-US" sz="1800" dirty="0" smtClean="0"/>
              <a:t>the context </a:t>
            </a:r>
            <a:r>
              <a:rPr lang="en-US" sz="1800" dirty="0"/>
              <a:t>of distributed </a:t>
            </a:r>
            <a:r>
              <a:rPr lang="en-US" sz="1800" dirty="0" smtClean="0"/>
              <a:t>databases</a:t>
            </a:r>
          </a:p>
          <a:p>
            <a:pPr lvl="1"/>
            <a:r>
              <a:rPr lang="en-US" sz="1800" dirty="0" smtClean="0"/>
              <a:t>High reliability and availability in distributed database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Centralized Database Systems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087307" cy="5367972"/>
          </a:xfr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Run on a single computer </a:t>
            </a:r>
            <a:r>
              <a:rPr lang="en-US" dirty="0" smtClean="0">
                <a:latin typeface="Helvetica" charset="0"/>
              </a:rPr>
              <a:t>system (From small mobile to high performance data base system running on a server )</a:t>
            </a:r>
            <a:endParaRPr lang="en-US" dirty="0">
              <a:latin typeface="Helvetica" charset="0"/>
            </a:endParaRPr>
          </a:p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Single-user </a:t>
            </a:r>
            <a:r>
              <a:rPr lang="en-US" b="1" dirty="0" smtClean="0">
                <a:solidFill>
                  <a:srgbClr val="002060"/>
                </a:solidFill>
                <a:latin typeface="Helvetica" charset="0"/>
              </a:rPr>
              <a:t>system (low concurrency, crash recovery may not, API rather than SQL -</a:t>
            </a:r>
            <a:r>
              <a:rPr lang="en-US" b="1" dirty="0" smtClean="0">
                <a:solidFill>
                  <a:srgbClr val="002060"/>
                </a:solidFill>
                <a:latin typeface="Helvetica" charset="0"/>
                <a:sym typeface="Wingdings" panose="05000000000000000000" pitchFamily="2" charset="2"/>
              </a:rPr>
              <a:t> Embedded databases)</a:t>
            </a:r>
            <a:r>
              <a:rPr lang="en-US" b="1" dirty="0" smtClean="0">
                <a:solidFill>
                  <a:srgbClr val="002060"/>
                </a:solidFill>
                <a:latin typeface="Helvetica" charset="0"/>
              </a:rPr>
              <a:t> </a:t>
            </a:r>
            <a:endParaRPr lang="en-US" b="1" dirty="0">
              <a:solidFill>
                <a:srgbClr val="002060"/>
              </a:solidFill>
              <a:latin typeface="Helvetica" charset="0"/>
            </a:endParaRPr>
          </a:p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Multi-user systems </a:t>
            </a:r>
            <a:r>
              <a:rPr lang="en-US" dirty="0">
                <a:latin typeface="Helvetica" charset="0"/>
              </a:rPr>
              <a:t>also known as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server systems</a:t>
            </a:r>
            <a:r>
              <a:rPr lang="en-US" dirty="0">
                <a:latin typeface="Helvetica" charset="0"/>
              </a:rPr>
              <a:t>.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Service requests received from client systems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Multi-core systems with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coarse-grained parallelism</a:t>
            </a:r>
          </a:p>
          <a:p>
            <a:pPr lvl="2"/>
            <a:r>
              <a:rPr lang="en-US" dirty="0">
                <a:latin typeface="Helvetica" charset="0"/>
              </a:rPr>
              <a:t>Typically, a few to tens of processor </a:t>
            </a:r>
            <a:r>
              <a:rPr lang="en-US" dirty="0" smtClean="0">
                <a:latin typeface="Helvetica" charset="0"/>
              </a:rPr>
              <a:t>cores, Share</a:t>
            </a:r>
            <a:endParaRPr lang="en-US" dirty="0">
              <a:latin typeface="Helvetica" charset="0"/>
            </a:endParaRPr>
          </a:p>
          <a:p>
            <a:pPr lvl="2"/>
            <a:r>
              <a:rPr lang="en-US" dirty="0">
                <a:latin typeface="Helvetica" charset="0"/>
              </a:rPr>
              <a:t>In contrast, fine-grained parallelism uses very large number of computers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Server System Architecture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665825" y="1102497"/>
            <a:ext cx="7732451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Server systems can be broadly categorized into two kinds:</a:t>
            </a:r>
          </a:p>
          <a:p>
            <a:pPr lvl="1"/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Transaction servers</a:t>
            </a:r>
            <a:r>
              <a:rPr lang="en-US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(Query server)</a:t>
            </a:r>
            <a:endParaRPr lang="en-US" dirty="0">
              <a:solidFill>
                <a:srgbClr val="002060"/>
              </a:solidFill>
              <a:latin typeface="Helvetica" charset="0"/>
              <a:ea typeface="ＭＳ Ｐゴシック" charset="0"/>
            </a:endParaRPr>
          </a:p>
          <a:p>
            <a:pPr lvl="2"/>
            <a:r>
              <a:rPr lang="en-US" dirty="0" smtClean="0">
                <a:latin typeface="Helvetica" charset="0"/>
                <a:ea typeface="ＭＳ Ｐゴシック" charset="0"/>
              </a:rPr>
              <a:t>Widely used in relational database systems, and</a:t>
            </a:r>
          </a:p>
          <a:p>
            <a:pPr lvl="2"/>
            <a:r>
              <a:rPr lang="en-US" sz="1800" dirty="0" smtClean="0"/>
              <a:t>provide </a:t>
            </a:r>
            <a:r>
              <a:rPr lang="en-US" sz="1800" dirty="0"/>
              <a:t>an </a:t>
            </a:r>
            <a:r>
              <a:rPr lang="en-US" sz="1800" dirty="0">
                <a:solidFill>
                  <a:srgbClr val="FF0000"/>
                </a:solidFill>
              </a:rPr>
              <a:t>interface to which clients can </a:t>
            </a:r>
            <a:r>
              <a:rPr lang="en-US" sz="1800" dirty="0" smtClean="0">
                <a:solidFill>
                  <a:srgbClr val="FF0000"/>
                </a:solidFill>
              </a:rPr>
              <a:t>send requests</a:t>
            </a:r>
            <a:r>
              <a:rPr lang="en-US" sz="1800" dirty="0" smtClean="0"/>
              <a:t> </a:t>
            </a:r>
            <a:r>
              <a:rPr lang="en-US" sz="1800" dirty="0"/>
              <a:t>to perform an action, in response to which </a:t>
            </a:r>
            <a:r>
              <a:rPr lang="en-US" sz="1800" dirty="0" smtClean="0">
                <a:solidFill>
                  <a:srgbClr val="FF0000"/>
                </a:solidFill>
              </a:rPr>
              <a:t>they execute </a:t>
            </a:r>
            <a:r>
              <a:rPr lang="en-US" sz="1800" dirty="0">
                <a:solidFill>
                  <a:srgbClr val="FF0000"/>
                </a:solidFill>
              </a:rPr>
              <a:t>the action and send back results to the client</a:t>
            </a:r>
            <a:r>
              <a:rPr lang="en-US" sz="1800" dirty="0"/>
              <a:t>.</a:t>
            </a:r>
            <a:endParaRPr lang="en-US" dirty="0" smtClean="0">
              <a:latin typeface="Helvetica" charset="0"/>
              <a:ea typeface="ＭＳ Ｐゴシック" charset="0"/>
            </a:endParaRPr>
          </a:p>
          <a:p>
            <a:pPr lvl="2"/>
            <a:endParaRPr lang="en-US" dirty="0" smtClean="0">
              <a:latin typeface="Helvetica" charset="0"/>
              <a:ea typeface="ＭＳ Ｐゴシック" charset="0"/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Data </a:t>
            </a: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servers</a:t>
            </a:r>
            <a:r>
              <a:rPr lang="en-US" dirty="0">
                <a:latin typeface="Helvetica" charset="0"/>
                <a:ea typeface="ＭＳ Ｐゴシック" charset="0"/>
              </a:rPr>
              <a:t> </a:t>
            </a:r>
          </a:p>
          <a:p>
            <a:pPr lvl="2"/>
            <a:r>
              <a:rPr lang="en-US" sz="1800" dirty="0"/>
              <a:t>allow clients to interact with </a:t>
            </a:r>
            <a:r>
              <a:rPr lang="en-US" sz="1800" dirty="0" smtClean="0"/>
              <a:t>the servers </a:t>
            </a:r>
            <a:r>
              <a:rPr lang="en-US" sz="1800" dirty="0"/>
              <a:t>by making requests to read or update data, </a:t>
            </a:r>
            <a:r>
              <a:rPr lang="en-US" sz="1800" dirty="0" smtClean="0"/>
              <a:t>in </a:t>
            </a:r>
            <a:r>
              <a:rPr lang="en-US" sz="1800" dirty="0" smtClean="0">
                <a:solidFill>
                  <a:srgbClr val="FF0000"/>
                </a:solidFill>
              </a:rPr>
              <a:t>units </a:t>
            </a:r>
            <a:r>
              <a:rPr lang="en-US" sz="1800" dirty="0">
                <a:solidFill>
                  <a:srgbClr val="FF0000"/>
                </a:solidFill>
              </a:rPr>
              <a:t>such as files, pages, or objects</a:t>
            </a:r>
            <a:r>
              <a:rPr lang="en-US" sz="1800" dirty="0" smtClean="0"/>
              <a:t>.</a:t>
            </a:r>
          </a:p>
          <a:p>
            <a:pPr lvl="2"/>
            <a:r>
              <a:rPr lang="en-US" sz="1800" dirty="0"/>
              <a:t>they support units of data―such as pages</a:t>
            </a:r>
            <a:r>
              <a:rPr lang="en-US" sz="1800" dirty="0" smtClean="0"/>
              <a:t>, tuples</a:t>
            </a:r>
            <a:r>
              <a:rPr lang="en-US" sz="1800" dirty="0"/>
              <a:t>, or objects―that are smaller than a file</a:t>
            </a:r>
            <a:r>
              <a:rPr lang="en-US" sz="1800" dirty="0" smtClean="0"/>
              <a:t>.</a:t>
            </a:r>
          </a:p>
          <a:p>
            <a:pPr lvl="2"/>
            <a:r>
              <a:rPr lang="en-US" dirty="0"/>
              <a:t>provide </a:t>
            </a:r>
            <a:r>
              <a:rPr lang="en-US" dirty="0">
                <a:solidFill>
                  <a:srgbClr val="FF0000"/>
                </a:solidFill>
              </a:rPr>
              <a:t>indexing facilities for data</a:t>
            </a:r>
            <a:r>
              <a:rPr lang="en-US" dirty="0" smtClean="0"/>
              <a:t>,</a:t>
            </a:r>
          </a:p>
          <a:p>
            <a:pPr lvl="2"/>
            <a:r>
              <a:rPr lang="en-US" sz="1800" dirty="0" smtClean="0"/>
              <a:t>Provide </a:t>
            </a:r>
            <a:r>
              <a:rPr lang="en-US" sz="1800" dirty="0" smtClean="0">
                <a:solidFill>
                  <a:srgbClr val="FF0000"/>
                </a:solidFill>
              </a:rPr>
              <a:t>transaction </a:t>
            </a:r>
            <a:r>
              <a:rPr lang="en-US" sz="1800" dirty="0">
                <a:solidFill>
                  <a:srgbClr val="FF0000"/>
                </a:solidFill>
              </a:rPr>
              <a:t>facilities </a:t>
            </a:r>
            <a:r>
              <a:rPr lang="en-US" sz="1800" dirty="0"/>
              <a:t>so that the data are never left in </a:t>
            </a:r>
            <a:r>
              <a:rPr lang="en-US" sz="1800" dirty="0" smtClean="0"/>
              <a:t>an </a:t>
            </a:r>
            <a:r>
              <a:rPr lang="en-US" sz="1800" dirty="0" smtClean="0">
                <a:solidFill>
                  <a:srgbClr val="FF0000"/>
                </a:solidFill>
              </a:rPr>
              <a:t>inconsistent </a:t>
            </a:r>
            <a:r>
              <a:rPr lang="en-US" sz="1800" dirty="0">
                <a:solidFill>
                  <a:srgbClr val="FF0000"/>
                </a:solidFill>
              </a:rPr>
              <a:t>state</a:t>
            </a:r>
            <a:endParaRPr lang="en-US" dirty="0" smtClean="0">
              <a:solidFill>
                <a:srgbClr val="FF0000"/>
              </a:solidFill>
              <a:latin typeface="Helvetica" charset="0"/>
              <a:ea typeface="ＭＳ Ｐゴシック" charset="0"/>
            </a:endParaRPr>
          </a:p>
          <a:p>
            <a:pPr lvl="2"/>
            <a:r>
              <a:rPr lang="en-US" dirty="0" smtClean="0">
                <a:latin typeface="Helvetica" charset="0"/>
                <a:ea typeface="ＭＳ Ｐゴシック" charset="0"/>
              </a:rPr>
              <a:t>Parallel </a:t>
            </a:r>
            <a:r>
              <a:rPr lang="en-US" dirty="0">
                <a:latin typeface="Helvetica" charset="0"/>
                <a:ea typeface="ＭＳ Ｐゴシック" charset="0"/>
              </a:rPr>
              <a:t>data servers used to implement high-performance transaction processing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Transaction Servers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093788"/>
            <a:ext cx="7783205" cy="4903787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Also called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query server</a:t>
            </a:r>
            <a:r>
              <a:rPr lang="en-US" dirty="0">
                <a:solidFill>
                  <a:srgbClr val="002060"/>
                </a:solidFill>
                <a:latin typeface="Helvetica" charset="0"/>
              </a:rPr>
              <a:t> </a:t>
            </a:r>
            <a:r>
              <a:rPr lang="en-US" dirty="0">
                <a:latin typeface="Helvetica" charset="0"/>
              </a:rPr>
              <a:t>systems or SQL</a:t>
            </a:r>
            <a:r>
              <a:rPr lang="en-US" i="1" dirty="0">
                <a:latin typeface="Helvetica" charset="0"/>
              </a:rPr>
              <a:t> server</a:t>
            </a:r>
            <a:r>
              <a:rPr lang="en-US" dirty="0">
                <a:latin typeface="Helvetica" charset="0"/>
              </a:rPr>
              <a:t> systems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Clients send requests to the server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Transactions are executed at the server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Results are shipped back to the client.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Requests are specified in SQL and communicated to the server through a </a:t>
            </a:r>
            <a:r>
              <a:rPr lang="en-US" i="1" dirty="0">
                <a:latin typeface="Helvetica" charset="0"/>
              </a:rPr>
              <a:t>remote procedure call </a:t>
            </a:r>
            <a:r>
              <a:rPr lang="en-US" dirty="0">
                <a:latin typeface="Helvetica" charset="0"/>
              </a:rPr>
              <a:t>(RPC) mechanism.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Transactional </a:t>
            </a:r>
            <a:r>
              <a:rPr lang="en-US" dirty="0">
                <a:solidFill>
                  <a:srgbClr val="FF0000"/>
                </a:solidFill>
                <a:latin typeface="Helvetica" charset="0"/>
              </a:rPr>
              <a:t>RPC</a:t>
            </a:r>
            <a:r>
              <a:rPr lang="en-US" dirty="0">
                <a:latin typeface="Helvetica" charset="0"/>
              </a:rPr>
              <a:t> allows many RPC calls to form a transaction.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Applications typically use </a:t>
            </a:r>
            <a:r>
              <a:rPr lang="en-US" dirty="0">
                <a:solidFill>
                  <a:srgbClr val="FF0000"/>
                </a:solidFill>
                <a:latin typeface="Helvetica" charset="0"/>
              </a:rPr>
              <a:t>ODBC/JDBC</a:t>
            </a:r>
            <a:r>
              <a:rPr lang="en-US" dirty="0">
                <a:latin typeface="Helvetica" charset="0"/>
              </a:rPr>
              <a:t> APIs to communicate with transaction servers</a:t>
            </a:r>
          </a:p>
          <a:p>
            <a:endParaRPr lang="en-US" dirty="0"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-11430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>
                <a:latin typeface="Helvetica" charset="0"/>
              </a:rPr>
              <a:t>Transaction System Processes (Cont.)</a:t>
            </a:r>
          </a:p>
        </p:txBody>
      </p:sp>
      <p:pic>
        <p:nvPicPr>
          <p:cNvPr id="2150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13" y="1039091"/>
            <a:ext cx="4141787" cy="5320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Transaction Server Process Structure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59084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A typical transaction server consists of multiple processes accessing data in shared memory</a:t>
            </a:r>
          </a:p>
          <a:p>
            <a:pPr>
              <a:lnSpc>
                <a:spcPct val="90000"/>
              </a:lnSpc>
              <a:buSzPct val="100000"/>
            </a:pPr>
            <a:r>
              <a:rPr lang="en-US" dirty="0">
                <a:latin typeface="Helvetica" charset="0"/>
              </a:rPr>
              <a:t>Shared memory contains shared data 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Buffer pool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Lock table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Log buffer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Cached query plans (reused if same query submitted again)</a:t>
            </a:r>
          </a:p>
          <a:p>
            <a:pPr>
              <a:lnSpc>
                <a:spcPct val="90000"/>
              </a:lnSpc>
              <a:buSzPct val="100000"/>
            </a:pPr>
            <a:r>
              <a:rPr lang="en-US" dirty="0">
                <a:latin typeface="Helvetica" charset="0"/>
              </a:rPr>
              <a:t>All database processes can access shared memory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Server processes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These receive user queries (transactions), execute them and send results back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Processes may be </a:t>
            </a: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multithreaded</a:t>
            </a:r>
            <a:r>
              <a:rPr lang="en-US" dirty="0">
                <a:latin typeface="Helvetica" charset="0"/>
                <a:ea typeface="ＭＳ Ｐゴシック" charset="0"/>
              </a:rPr>
              <a:t>, allowing a single process to execute several user queries concurrently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Typically, multiple multithreaded server processes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4528" y="14204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Transaction Server Processes (Cont.)</a:t>
            </a:r>
          </a:p>
        </p:txBody>
      </p:sp>
      <p:sp>
        <p:nvSpPr>
          <p:cNvPr id="19458" name="Rectangle 1027"/>
          <p:cNvSpPr>
            <a:spLocks noGrp="1" noChangeArrowheads="1"/>
          </p:cNvSpPr>
          <p:nvPr>
            <p:ph idx="1"/>
          </p:nvPr>
        </p:nvSpPr>
        <p:spPr>
          <a:xfrm>
            <a:off x="683582" y="1108075"/>
            <a:ext cx="7785716" cy="5140325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Database writer process	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Output modified buffer blocks to disks continually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Log writer process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Server processes simply add log records to log record buffer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Log writer process outputs log records to stable storage. 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Checkpoint process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Performs periodic checkpoints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Process monitor process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Monitors other processes, and takes recovery actions if any of the other processes fail</a:t>
            </a:r>
          </a:p>
          <a:p>
            <a:pPr lvl="2"/>
            <a:r>
              <a:rPr lang="en-US" dirty="0">
                <a:latin typeface="Helvetica" charset="0"/>
                <a:ea typeface="ＭＳ Ｐゴシック" charset="0"/>
              </a:rPr>
              <a:t>E.g. aborting any transactions being executed by a server process and restarting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>
                <a:latin typeface="Helvetica" charset="0"/>
              </a:rPr>
              <a:t>Transaction System Processes (Cont.)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253562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Lock manager process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To avoid overhead of interprocess communication for lock request/grant, each database process operates directly on the lock table </a:t>
            </a:r>
          </a:p>
          <a:p>
            <a:pPr lvl="2"/>
            <a:r>
              <a:rPr lang="en-US" dirty="0">
                <a:latin typeface="Helvetica" charset="0"/>
                <a:ea typeface="ＭＳ Ｐゴシック" charset="0"/>
              </a:rPr>
              <a:t>Instead of sending requests to lock manager process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Lock manager process still used for deadlock detection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To ensure that no two processes are accessing the same data structure at the same time, databases systems implement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mutual exclusion</a:t>
            </a:r>
            <a:r>
              <a:rPr lang="en-US" dirty="0">
                <a:solidFill>
                  <a:srgbClr val="002060"/>
                </a:solidFill>
                <a:latin typeface="Helvetica" charset="0"/>
              </a:rPr>
              <a:t> </a:t>
            </a:r>
            <a:r>
              <a:rPr lang="en-US" dirty="0">
                <a:latin typeface="Helvetica" charset="0"/>
              </a:rPr>
              <a:t>using either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Atomic instructions</a:t>
            </a:r>
          </a:p>
          <a:p>
            <a:pPr lvl="2"/>
            <a:r>
              <a:rPr lang="en-US" dirty="0">
                <a:latin typeface="Helvetica" charset="0"/>
                <a:ea typeface="ＭＳ Ｐゴシック" charset="0"/>
              </a:rPr>
              <a:t>Test-And-Set</a:t>
            </a:r>
          </a:p>
          <a:p>
            <a:pPr lvl="2"/>
            <a:r>
              <a:rPr lang="en-US" dirty="0">
                <a:latin typeface="Helvetica" charset="0"/>
                <a:ea typeface="ＭＳ Ｐゴシック" charset="0"/>
              </a:rPr>
              <a:t>Compare-And-Swap (CAS)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Operating system semaphores</a:t>
            </a:r>
          </a:p>
          <a:p>
            <a:pPr lvl="2"/>
            <a:r>
              <a:rPr lang="en-US" dirty="0">
                <a:latin typeface="Helvetica" charset="0"/>
                <a:ea typeface="ＭＳ Ｐゴシック" charset="0"/>
              </a:rPr>
              <a:t>Higher overhead than atomic instructions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67374-8386-4248-965E-7D6E1D02D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35080"/>
            <a:ext cx="7689850" cy="540039"/>
          </a:xfrm>
        </p:spPr>
        <p:txBody>
          <a:bodyPr/>
          <a:lstStyle/>
          <a:p>
            <a:r>
              <a:rPr lang="en-IN" dirty="0"/>
              <a:t>Atomic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35302-CF7C-4225-B8E9-CA1255140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58" y="1102497"/>
            <a:ext cx="7741328" cy="536797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Test-And-Set</a:t>
            </a:r>
            <a:r>
              <a:rPr lang="en-IN" dirty="0"/>
              <a:t>(M)</a:t>
            </a:r>
          </a:p>
          <a:p>
            <a:pPr lvl="1"/>
            <a:r>
              <a:rPr lang="en-IN" dirty="0"/>
              <a:t>Memory location M, initially 0</a:t>
            </a:r>
          </a:p>
          <a:p>
            <a:pPr lvl="1"/>
            <a:r>
              <a:rPr lang="en-IN" dirty="0"/>
              <a:t>Test-and-set(M) sets M to 1, and returns old value of M</a:t>
            </a:r>
          </a:p>
          <a:p>
            <a:pPr lvl="2"/>
            <a:r>
              <a:rPr lang="en-IN" dirty="0"/>
              <a:t>Return value 0 indicates process has acquired the mutex</a:t>
            </a:r>
          </a:p>
          <a:p>
            <a:pPr lvl="2"/>
            <a:r>
              <a:rPr lang="en-IN" dirty="0"/>
              <a:t>Return value 1 indicates someone is already holding the mutex</a:t>
            </a:r>
          </a:p>
          <a:p>
            <a:pPr lvl="3"/>
            <a:r>
              <a:rPr lang="en-IN" dirty="0"/>
              <a:t>Must try again later</a:t>
            </a:r>
          </a:p>
          <a:p>
            <a:pPr lvl="2"/>
            <a:r>
              <a:rPr lang="en-IN" dirty="0"/>
              <a:t>Release of mutex done by setting M = 0</a:t>
            </a:r>
          </a:p>
          <a:p>
            <a:r>
              <a:rPr lang="en-IN" b="1" dirty="0">
                <a:solidFill>
                  <a:srgbClr val="002060"/>
                </a:solidFill>
              </a:rPr>
              <a:t>Compare-and-swap</a:t>
            </a:r>
            <a:r>
              <a:rPr lang="en-IN" dirty="0"/>
              <a:t>(M, V1, V2)</a:t>
            </a:r>
          </a:p>
          <a:p>
            <a:pPr lvl="1"/>
            <a:r>
              <a:rPr lang="en-IN" dirty="0"/>
              <a:t>Atomically do following</a:t>
            </a:r>
          </a:p>
          <a:p>
            <a:pPr lvl="2"/>
            <a:r>
              <a:rPr lang="en-IN" dirty="0"/>
              <a:t>If M = V1, set M = V2 and return success</a:t>
            </a:r>
          </a:p>
          <a:p>
            <a:pPr lvl="2"/>
            <a:r>
              <a:rPr lang="en-IN" dirty="0"/>
              <a:t>Else return failure</a:t>
            </a:r>
          </a:p>
          <a:p>
            <a:pPr lvl="1"/>
            <a:r>
              <a:rPr lang="en-IN" dirty="0"/>
              <a:t>With M = 0 initially, CAS(M, 0, 1) equivalent to test-and-set(M)</a:t>
            </a:r>
          </a:p>
          <a:p>
            <a:pPr lvl="1"/>
            <a:r>
              <a:rPr lang="en-IN" dirty="0"/>
              <a:t>Can use CAS(M, 0, id) where id = thread-id or process-id to record who has the mutex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000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5530947"/>
          </a:xfrm>
        </p:spPr>
        <p:txBody>
          <a:bodyPr/>
          <a:lstStyle/>
          <a:p>
            <a:r>
              <a:rPr lang="en-US" dirty="0"/>
              <a:t>A transaction that wants to </a:t>
            </a:r>
            <a:r>
              <a:rPr lang="en-US" dirty="0">
                <a:solidFill>
                  <a:srgbClr val="FF0000"/>
                </a:solidFill>
              </a:rPr>
              <a:t>acquire a lock </a:t>
            </a:r>
            <a:r>
              <a:rPr lang="en-US" dirty="0"/>
              <a:t>by </a:t>
            </a:r>
            <a:r>
              <a:rPr lang="en-US" dirty="0" smtClean="0"/>
              <a:t>directly updating </a:t>
            </a:r>
            <a:r>
              <a:rPr lang="en-US" dirty="0"/>
              <a:t>the lock table in shared memory executes </a:t>
            </a:r>
            <a:r>
              <a:rPr lang="en-US" dirty="0" err="1" smtClean="0"/>
              <a:t>thefollowing</a:t>
            </a:r>
            <a:r>
              <a:rPr lang="en-US" dirty="0" smtClean="0"/>
              <a:t> </a:t>
            </a:r>
            <a:r>
              <a:rPr lang="en-US" dirty="0"/>
              <a:t>steps.</a:t>
            </a:r>
          </a:p>
          <a:p>
            <a:r>
              <a:rPr lang="en-US" b="1" dirty="0"/>
              <a:t>1. </a:t>
            </a:r>
            <a:r>
              <a:rPr lang="en-US" dirty="0"/>
              <a:t>Acquire a </a:t>
            </a:r>
            <a:r>
              <a:rPr lang="en-US" dirty="0" err="1"/>
              <a:t>mutex</a:t>
            </a:r>
            <a:r>
              <a:rPr lang="en-US" dirty="0"/>
              <a:t> (latch) on the lock table.</a:t>
            </a:r>
          </a:p>
          <a:p>
            <a:r>
              <a:rPr lang="en-US" b="1" dirty="0"/>
              <a:t>2. </a:t>
            </a:r>
            <a:r>
              <a:rPr lang="en-US" dirty="0"/>
              <a:t>Check if the requested lock can be allocated, </a:t>
            </a:r>
            <a:r>
              <a:rPr lang="en-US" dirty="0" smtClean="0"/>
              <a:t>If </a:t>
            </a:r>
            <a:r>
              <a:rPr lang="en-US" dirty="0"/>
              <a:t>it can, </a:t>
            </a:r>
            <a:r>
              <a:rPr lang="en-US" dirty="0" smtClean="0"/>
              <a:t>update the </a:t>
            </a:r>
            <a:r>
              <a:rPr lang="en-US" dirty="0"/>
              <a:t>lock table to indicate the lock is </a:t>
            </a:r>
            <a:r>
              <a:rPr lang="en-US" dirty="0" smtClean="0"/>
              <a:t>allocated. Otherwise</a:t>
            </a:r>
            <a:r>
              <a:rPr lang="en-US" dirty="0"/>
              <a:t>, update the lock table to indicate that </a:t>
            </a:r>
            <a:r>
              <a:rPr lang="en-US" dirty="0" smtClean="0"/>
              <a:t>the lock </a:t>
            </a:r>
            <a:r>
              <a:rPr lang="en-US" dirty="0"/>
              <a:t>request is in the queue for that lock.</a:t>
            </a:r>
          </a:p>
          <a:p>
            <a:r>
              <a:rPr lang="en-US" b="1" dirty="0"/>
              <a:t>3. </a:t>
            </a:r>
            <a:r>
              <a:rPr lang="en-US" dirty="0"/>
              <a:t>Release the </a:t>
            </a:r>
            <a:r>
              <a:rPr lang="en-US" dirty="0" err="1"/>
              <a:t>mutex</a:t>
            </a:r>
            <a:r>
              <a:rPr lang="en-US" dirty="0"/>
              <a:t> on the lock table</a:t>
            </a:r>
            <a:r>
              <a:rPr lang="en-US" dirty="0" smtClean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Lock release </a:t>
            </a:r>
            <a:r>
              <a:rPr lang="en-US" dirty="0"/>
              <a:t>is done as follows:</a:t>
            </a:r>
          </a:p>
          <a:p>
            <a:r>
              <a:rPr lang="en-US" b="1" dirty="0" smtClean="0"/>
              <a:t>1</a:t>
            </a:r>
            <a:r>
              <a:rPr lang="en-US" b="1" dirty="0"/>
              <a:t>. </a:t>
            </a:r>
            <a:r>
              <a:rPr lang="en-US" dirty="0"/>
              <a:t>Acquire a </a:t>
            </a:r>
            <a:r>
              <a:rPr lang="en-US" dirty="0" err="1"/>
              <a:t>mutex</a:t>
            </a:r>
            <a:r>
              <a:rPr lang="en-US" dirty="0"/>
              <a:t> on the lock table</a:t>
            </a:r>
          </a:p>
          <a:p>
            <a:r>
              <a:rPr lang="en-US" b="1" dirty="0"/>
              <a:t>2. </a:t>
            </a:r>
            <a:r>
              <a:rPr lang="en-US" dirty="0"/>
              <a:t>Remove the entry in the lock table for the lock being</a:t>
            </a:r>
          </a:p>
          <a:p>
            <a:r>
              <a:rPr lang="en-US" dirty="0"/>
              <a:t>released.</a:t>
            </a:r>
          </a:p>
          <a:p>
            <a:r>
              <a:rPr lang="en-US" b="1" dirty="0"/>
              <a:t>3. </a:t>
            </a:r>
            <a:r>
              <a:rPr lang="en-US" dirty="0"/>
              <a:t>If there are any other lock requests pending for the </a:t>
            </a:r>
            <a:r>
              <a:rPr lang="en-US" dirty="0" smtClean="0"/>
              <a:t>data item </a:t>
            </a:r>
            <a:r>
              <a:rPr lang="en-US" dirty="0"/>
              <a:t>that can now be allocated to the lock, the </a:t>
            </a:r>
            <a:r>
              <a:rPr lang="en-US" dirty="0" smtClean="0"/>
              <a:t>lock table </a:t>
            </a:r>
            <a:r>
              <a:rPr lang="en-US" dirty="0"/>
              <a:t>is updated to mark those requests as </a:t>
            </a:r>
            <a:r>
              <a:rPr lang="en-US" dirty="0" smtClean="0"/>
              <a:t>allocated.</a:t>
            </a:r>
          </a:p>
          <a:p>
            <a:r>
              <a:rPr lang="en-US" b="1" dirty="0" smtClean="0"/>
              <a:t>4</a:t>
            </a:r>
            <a:r>
              <a:rPr lang="en-US" b="1" dirty="0"/>
              <a:t>. </a:t>
            </a:r>
            <a:r>
              <a:rPr lang="en-US" dirty="0"/>
              <a:t>Release the </a:t>
            </a:r>
            <a:r>
              <a:rPr lang="en-US" dirty="0" err="1"/>
              <a:t>mutex</a:t>
            </a:r>
            <a:r>
              <a:rPr lang="en-US" dirty="0"/>
              <a:t> on the lock 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8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Data Servers/Data Storage Systems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289273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Data items are shipped to clients where processing is performed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Updated data items written back to server</a:t>
            </a:r>
            <a:endParaRPr lang="en-US" dirty="0">
              <a:latin typeface="Helvetica" charset="0"/>
              <a:ea typeface="ＭＳ Ｐゴシック" charset="0"/>
            </a:endParaRPr>
          </a:p>
          <a:p>
            <a:pPr>
              <a:buSzPct val="100000"/>
            </a:pPr>
            <a:r>
              <a:rPr lang="en-US" dirty="0">
                <a:latin typeface="Helvetica" charset="0"/>
                <a:ea typeface="ＭＳ Ｐゴシック" charset="0"/>
              </a:rPr>
              <a:t>Earlier generation of data servers operated in units of data items, or pages containing multiple data items</a:t>
            </a:r>
          </a:p>
          <a:p>
            <a:pPr>
              <a:buSzPct val="100000"/>
            </a:pPr>
            <a:r>
              <a:rPr lang="en-US" dirty="0">
                <a:latin typeface="Helvetica" charset="0"/>
                <a:ea typeface="ＭＳ Ｐゴシック" charset="0"/>
              </a:rPr>
              <a:t>Current generation data servers (also called data storage systems) only work in units of data items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  <a:ea typeface="ＭＳ Ｐゴシック" charset="0"/>
              </a:rPr>
              <a:t>Commonly used data item formats include JSON, XML, or just uninterpreted binary </a:t>
            </a:r>
            <a:r>
              <a:rPr lang="en-US" dirty="0" smtClean="0">
                <a:latin typeface="Helvetica" charset="0"/>
                <a:ea typeface="ＭＳ Ｐゴシック" charset="0"/>
              </a:rPr>
              <a:t>strings</a:t>
            </a:r>
          </a:p>
          <a:p>
            <a:r>
              <a:rPr lang="en-US" dirty="0"/>
              <a:t>The time cost of </a:t>
            </a:r>
            <a:r>
              <a:rPr lang="en-US" dirty="0">
                <a:solidFill>
                  <a:srgbClr val="FF0000"/>
                </a:solidFill>
              </a:rPr>
              <a:t>communication between a </a:t>
            </a:r>
            <a:r>
              <a:rPr lang="en-US" dirty="0" smtClean="0">
                <a:solidFill>
                  <a:srgbClr val="FF0000"/>
                </a:solidFill>
              </a:rPr>
              <a:t>client application </a:t>
            </a:r>
            <a:r>
              <a:rPr lang="en-US" dirty="0">
                <a:solidFill>
                  <a:srgbClr val="FF0000"/>
                </a:solidFill>
              </a:rPr>
              <a:t>and a server</a:t>
            </a:r>
            <a:r>
              <a:rPr lang="en-US" dirty="0"/>
              <a:t> (whether a transaction server, or </a:t>
            </a:r>
            <a:r>
              <a:rPr lang="en-US" dirty="0" smtClean="0"/>
              <a:t>a data </a:t>
            </a:r>
            <a:r>
              <a:rPr lang="en-US" dirty="0"/>
              <a:t>server) is high compared to that of a local </a:t>
            </a:r>
            <a:r>
              <a:rPr lang="en-US" dirty="0" smtClean="0"/>
              <a:t>memory reference </a:t>
            </a:r>
            <a:r>
              <a:rPr lang="en-US" dirty="0"/>
              <a:t>(milliseconds, versus less than </a:t>
            </a:r>
            <a:r>
              <a:rPr lang="en-US" dirty="0" smtClean="0"/>
              <a:t>100 nanoseconds</a:t>
            </a:r>
            <a:r>
              <a:rPr lang="en-US" dirty="0"/>
              <a:t>).</a:t>
            </a:r>
            <a:endParaRPr lang="en-US" dirty="0" smtClean="0">
              <a:latin typeface="Helvetica" charset="0"/>
              <a:ea typeface="ＭＳ Ｐゴシック" charset="0"/>
            </a:endParaRPr>
          </a:p>
          <a:p>
            <a:pPr>
              <a:buSzPct val="100000"/>
            </a:pPr>
            <a:r>
              <a:rPr lang="en-US" dirty="0" smtClean="0">
                <a:solidFill>
                  <a:srgbClr val="FF0000"/>
                </a:solidFill>
                <a:latin typeface="Helvetica" charset="0"/>
                <a:ea typeface="ＭＳ Ｐゴシック" charset="0"/>
              </a:rPr>
              <a:t>Network latency </a:t>
            </a:r>
          </a:p>
          <a:p>
            <a:pPr lvl="1"/>
            <a:r>
              <a:rPr lang="en-US" sz="1800" dirty="0"/>
              <a:t>The time to send a message over </a:t>
            </a:r>
            <a:r>
              <a:rPr lang="en-US" sz="1800" dirty="0" smtClean="0"/>
              <a:t>a network</a:t>
            </a:r>
            <a:r>
              <a:rPr lang="en-US" sz="1800" dirty="0"/>
              <a:t>, and get a response back,</a:t>
            </a:r>
            <a:endParaRPr lang="en-US" dirty="0">
              <a:solidFill>
                <a:srgbClr val="FF0000"/>
              </a:solidFill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62345"/>
            <a:ext cx="7689850" cy="61277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Data Servers/Storage Systems (Cont.)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59083" cy="536797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Applications </a:t>
            </a:r>
            <a:r>
              <a:rPr lang="en-US" dirty="0"/>
              <a:t>running at the clients </a:t>
            </a:r>
            <a:r>
              <a:rPr lang="en-US" dirty="0" smtClean="0"/>
              <a:t>adopt several </a:t>
            </a:r>
            <a:r>
              <a:rPr lang="en-US" dirty="0"/>
              <a:t>optimization strategies to reduce the effects </a:t>
            </a:r>
            <a:r>
              <a:rPr lang="en-US" dirty="0" smtClean="0"/>
              <a:t>of network </a:t>
            </a:r>
            <a:r>
              <a:rPr lang="en-US" dirty="0"/>
              <a:t>latency.</a:t>
            </a:r>
            <a:endParaRPr lang="en-US" b="1" dirty="0" smtClean="0">
              <a:solidFill>
                <a:srgbClr val="002060"/>
              </a:solidFill>
              <a:latin typeface="Helvetica" charset="0"/>
            </a:endParaRPr>
          </a:p>
          <a:p>
            <a:pPr>
              <a:lnSpc>
                <a:spcPct val="90000"/>
              </a:lnSpc>
              <a:buSzPct val="100000"/>
            </a:pPr>
            <a:r>
              <a:rPr lang="en-US" b="1" dirty="0" smtClean="0">
                <a:solidFill>
                  <a:srgbClr val="002060"/>
                </a:solidFill>
                <a:latin typeface="Helvetica" charset="0"/>
              </a:rPr>
              <a:t>Prefetching</a:t>
            </a:r>
            <a:endParaRPr lang="en-US" b="1" dirty="0">
              <a:solidFill>
                <a:srgbClr val="002060"/>
              </a:solidFill>
              <a:latin typeface="Helvetica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Prefetch items that may be used soon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Data caching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Cache coherence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Lock caching</a:t>
            </a:r>
            <a:r>
              <a:rPr lang="en-US" dirty="0">
                <a:latin typeface="Helvetica" charset="0"/>
                <a:ea typeface="ＭＳ Ｐゴシック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Locks can be cached by client across transactions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Locks can be </a:t>
            </a: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called back </a:t>
            </a:r>
            <a:r>
              <a:rPr lang="en-US" dirty="0">
                <a:latin typeface="Helvetica" charset="0"/>
                <a:ea typeface="ＭＳ Ｐゴシック" charset="0"/>
              </a:rPr>
              <a:t>by the server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Adaptive lock granularity</a:t>
            </a:r>
            <a:r>
              <a:rPr lang="en-US" dirty="0">
                <a:latin typeface="Helvetica" charset="0"/>
                <a:ea typeface="ＭＳ Ｐゴシック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Lock granularity escalation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switch from finer granularity (e.g. tuple) lock to coarser</a:t>
            </a:r>
          </a:p>
          <a:p>
            <a:pPr lvl="1">
              <a:lnSpc>
                <a:spcPct val="90000"/>
              </a:lnSpc>
            </a:pP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Lock granularity de-escalation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Start with coarse granularity to </a:t>
            </a:r>
            <a:r>
              <a:rPr lang="en-US" dirty="0" err="1">
                <a:latin typeface="Helvetica" charset="0"/>
                <a:ea typeface="ＭＳ Ｐゴシック" charset="0"/>
              </a:rPr>
              <a:t>reduve</a:t>
            </a:r>
            <a:r>
              <a:rPr lang="en-US" dirty="0">
                <a:latin typeface="Helvetica" charset="0"/>
                <a:ea typeface="ＭＳ Ｐゴシック" charset="0"/>
              </a:rPr>
              <a:t> overheads</a:t>
            </a:r>
            <a:r>
              <a:rPr lang="en-US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, </a:t>
            </a:r>
            <a:r>
              <a:rPr lang="en-US" dirty="0">
                <a:latin typeface="Helvetica" charset="0"/>
                <a:ea typeface="ＭＳ Ｐゴシック" charset="0"/>
              </a:rPr>
              <a:t>switch to finer granularity in case of more concurrency conflict at server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Details in 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Data Servers (Cont.)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812350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Data Caching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Data can be cached at client even in between transactions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But check that data is up-to-date before it is used (</a:t>
            </a: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cache coherency</a:t>
            </a:r>
            <a:r>
              <a:rPr lang="en-US" dirty="0">
                <a:latin typeface="Helvetica" charset="0"/>
                <a:ea typeface="ＭＳ Ｐゴシック" charset="0"/>
              </a:rPr>
              <a:t>)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Check can be done when requesting lock on data item</a:t>
            </a:r>
          </a:p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Lock Caching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Locks can be retained by client system even in between transactions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Transactions can acquire cached locks locally, without contacting server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Server </a:t>
            </a: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calls back</a:t>
            </a:r>
            <a:r>
              <a:rPr lang="en-US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 </a:t>
            </a:r>
            <a:r>
              <a:rPr lang="en-US" dirty="0">
                <a:latin typeface="Helvetica" charset="0"/>
                <a:ea typeface="ＭＳ Ｐゴシック" charset="0"/>
              </a:rPr>
              <a:t>locks from clients when it receives conflicting lock request.  Client returns lock once no local transaction is using it.</a:t>
            </a:r>
          </a:p>
          <a:p>
            <a:pPr lvl="2"/>
            <a:r>
              <a:rPr lang="en-US" dirty="0">
                <a:latin typeface="Helvetica" charset="0"/>
                <a:ea typeface="ＭＳ Ｐゴシック" charset="0"/>
              </a:rPr>
              <a:t>Similar to lock callback on </a:t>
            </a:r>
            <a:r>
              <a:rPr lang="en-US" dirty="0" err="1">
                <a:latin typeface="Helvetica" charset="0"/>
                <a:ea typeface="ＭＳ Ｐゴシック" charset="0"/>
              </a:rPr>
              <a:t>prefetch</a:t>
            </a:r>
            <a:r>
              <a:rPr lang="en-US" dirty="0">
                <a:latin typeface="Helvetica" charset="0"/>
                <a:ea typeface="ＭＳ Ｐゴシック" charset="0"/>
              </a:rPr>
              <a:t>, but across transactions.</a:t>
            </a:r>
          </a:p>
          <a:p>
            <a:endParaRPr lang="en-US" dirty="0"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Parallel Systems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546020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Parallel database systems consist of multiple processors and multiple disks connected by a fast interconnection network.</a:t>
            </a:r>
          </a:p>
          <a:p>
            <a:r>
              <a:rPr lang="en-US" dirty="0">
                <a:latin typeface="Helvetica" charset="0"/>
              </a:rPr>
              <a:t>Motivation: handle workloads beyond what a single computer system can handle</a:t>
            </a:r>
          </a:p>
          <a:p>
            <a:r>
              <a:rPr lang="en-US" dirty="0">
                <a:latin typeface="Helvetica" charset="0"/>
              </a:rPr>
              <a:t>High performance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transaction processing</a:t>
            </a:r>
          </a:p>
          <a:p>
            <a:pPr lvl="1"/>
            <a:r>
              <a:rPr lang="en-US" dirty="0">
                <a:latin typeface="Helvetica" charset="0"/>
              </a:rPr>
              <a:t>E.g. handling user requests at web-scale</a:t>
            </a:r>
          </a:p>
          <a:p>
            <a:r>
              <a:rPr lang="en-US" b="1" dirty="0">
                <a:solidFill>
                  <a:srgbClr val="002060"/>
                </a:solidFill>
                <a:latin typeface="Helvetica" charset="0"/>
              </a:rPr>
              <a:t>Decision support </a:t>
            </a:r>
            <a:r>
              <a:rPr lang="en-US" dirty="0">
                <a:latin typeface="Helvetica" charset="0"/>
              </a:rPr>
              <a:t>on very large amounts of data</a:t>
            </a:r>
          </a:p>
          <a:p>
            <a:pPr lvl="1"/>
            <a:r>
              <a:rPr lang="en-US" dirty="0">
                <a:latin typeface="Helvetica" charset="0"/>
              </a:rPr>
              <a:t>E.g. data gathered by large web sites/apps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Parallel Systems (Cont.)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50206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A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coarse-grain</a:t>
            </a:r>
            <a:r>
              <a:rPr lang="en-US" dirty="0">
                <a:solidFill>
                  <a:srgbClr val="002060"/>
                </a:solidFill>
                <a:latin typeface="Helvetica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parallel</a:t>
            </a:r>
            <a:r>
              <a:rPr lang="en-US" dirty="0">
                <a:solidFill>
                  <a:srgbClr val="002060"/>
                </a:solidFill>
                <a:latin typeface="Helvetica" charset="0"/>
              </a:rPr>
              <a:t> </a:t>
            </a:r>
            <a:r>
              <a:rPr lang="en-US" dirty="0">
                <a:latin typeface="Helvetica" charset="0"/>
              </a:rPr>
              <a:t>machine consists of a small number of powerful processors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A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massively parallel</a:t>
            </a:r>
            <a:r>
              <a:rPr lang="en-US" dirty="0">
                <a:solidFill>
                  <a:srgbClr val="002060"/>
                </a:solidFill>
                <a:latin typeface="Helvetica" charset="0"/>
              </a:rPr>
              <a:t> </a:t>
            </a:r>
            <a:r>
              <a:rPr lang="en-US" dirty="0">
                <a:latin typeface="Helvetica" charset="0"/>
              </a:rPr>
              <a:t>or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fine grain parallel</a:t>
            </a:r>
            <a:r>
              <a:rPr lang="en-US" i="1" dirty="0">
                <a:solidFill>
                  <a:srgbClr val="002060"/>
                </a:solidFill>
                <a:latin typeface="Helvetica" charset="0"/>
              </a:rPr>
              <a:t> </a:t>
            </a:r>
            <a:r>
              <a:rPr lang="en-US" dirty="0">
                <a:latin typeface="Helvetica" charset="0"/>
              </a:rPr>
              <a:t>machine utilizes thousands of smaller processors.</a:t>
            </a:r>
            <a:endParaRPr lang="en-US" dirty="0">
              <a:solidFill>
                <a:srgbClr val="002060"/>
              </a:solidFill>
              <a:latin typeface="Helvetica" charset="0"/>
            </a:endParaRP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Typically hosted in a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data center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Two main performance measures:</a:t>
            </a:r>
          </a:p>
          <a:p>
            <a:pPr lvl="1"/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Throughput</a:t>
            </a:r>
            <a:r>
              <a:rPr lang="en-US" dirty="0">
                <a:latin typeface="Helvetica" charset="0"/>
                <a:ea typeface="ＭＳ Ｐゴシック" charset="0"/>
              </a:rPr>
              <a:t> --- the number of tasks that can be completed in a given time interval</a:t>
            </a:r>
          </a:p>
          <a:p>
            <a:pPr lvl="1"/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Response time</a:t>
            </a:r>
            <a:r>
              <a:rPr lang="en-US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 </a:t>
            </a:r>
            <a:r>
              <a:rPr lang="en-US" dirty="0">
                <a:latin typeface="Helvetica" charset="0"/>
                <a:ea typeface="ＭＳ Ｐゴシック" charset="0"/>
              </a:rPr>
              <a:t>--- the amount of time it takes to complete a single task from the time it is submitted</a:t>
            </a:r>
          </a:p>
          <a:p>
            <a:endParaRPr lang="en-US" dirty="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05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Speed-Up and Scale-Up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25918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Speedup</a:t>
            </a:r>
            <a:r>
              <a:rPr lang="en-US" dirty="0">
                <a:latin typeface="Helvetica" charset="0"/>
              </a:rPr>
              <a:t>: a fixed-sized problem executing on a small system is given to a system which is </a:t>
            </a:r>
            <a:r>
              <a:rPr lang="en-US" i="1" dirty="0">
                <a:latin typeface="Helvetica" charset="0"/>
              </a:rPr>
              <a:t>N</a:t>
            </a:r>
            <a:r>
              <a:rPr lang="en-US" dirty="0">
                <a:latin typeface="Helvetica" charset="0"/>
              </a:rPr>
              <a:t>-times larger.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Measured by:</a:t>
            </a:r>
          </a:p>
          <a:p>
            <a:pPr marL="457200" lvl="1" indent="0">
              <a:buNone/>
            </a:pPr>
            <a:r>
              <a:rPr lang="en-US" i="1" dirty="0">
                <a:latin typeface="Helvetica" charset="0"/>
                <a:ea typeface="ＭＳ Ｐゴシック" charset="0"/>
              </a:rPr>
              <a:t>     speedup = small system elapsed time</a:t>
            </a:r>
          </a:p>
          <a:p>
            <a:pPr marL="457200" lvl="1" indent="0">
              <a:buNone/>
            </a:pPr>
            <a:r>
              <a:rPr lang="en-US" i="1" dirty="0">
                <a:latin typeface="Helvetica" charset="0"/>
                <a:ea typeface="ＭＳ Ｐゴシック" charset="0"/>
              </a:rPr>
              <a:t>                       large system elapsed time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Speedup is </a:t>
            </a:r>
            <a:r>
              <a:rPr lang="en-US" b="1" dirty="0">
                <a:latin typeface="Helvetica" charset="0"/>
                <a:ea typeface="ＭＳ Ｐゴシック" charset="0"/>
              </a:rPr>
              <a:t>linear</a:t>
            </a:r>
            <a:r>
              <a:rPr lang="en-US" dirty="0">
                <a:latin typeface="Helvetica" charset="0"/>
                <a:ea typeface="ＭＳ Ｐゴシック" charset="0"/>
              </a:rPr>
              <a:t> if equation equals N.</a:t>
            </a:r>
          </a:p>
          <a:p>
            <a:pPr>
              <a:buSzPct val="100000"/>
            </a:pPr>
            <a:r>
              <a:rPr lang="en-US" b="1" dirty="0" err="1">
                <a:solidFill>
                  <a:srgbClr val="002060"/>
                </a:solidFill>
                <a:latin typeface="Helvetica" charset="0"/>
              </a:rPr>
              <a:t>Scaleup</a:t>
            </a:r>
            <a:r>
              <a:rPr lang="en-US" dirty="0">
                <a:latin typeface="Helvetica" charset="0"/>
              </a:rPr>
              <a:t>: increase the size of both the problem and the system</a:t>
            </a:r>
          </a:p>
          <a:p>
            <a:pPr lvl="1"/>
            <a:r>
              <a:rPr lang="en-US" i="1" dirty="0">
                <a:latin typeface="Helvetica" charset="0"/>
                <a:ea typeface="ＭＳ Ｐゴシック" charset="0"/>
              </a:rPr>
              <a:t>N</a:t>
            </a:r>
            <a:r>
              <a:rPr lang="en-US" dirty="0">
                <a:latin typeface="Helvetica" charset="0"/>
                <a:ea typeface="ＭＳ Ｐゴシック" charset="0"/>
              </a:rPr>
              <a:t>-times larger system used to perform </a:t>
            </a:r>
            <a:r>
              <a:rPr lang="en-US" i="1" dirty="0">
                <a:latin typeface="Helvetica" charset="0"/>
                <a:ea typeface="ＭＳ Ｐゴシック" charset="0"/>
              </a:rPr>
              <a:t>N</a:t>
            </a:r>
            <a:r>
              <a:rPr lang="en-US" dirty="0">
                <a:latin typeface="Helvetica" charset="0"/>
                <a:ea typeface="ＭＳ Ｐゴシック" charset="0"/>
              </a:rPr>
              <a:t>-times larger job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Measured by:</a:t>
            </a:r>
          </a:p>
          <a:p>
            <a:pPr marL="457200" lvl="1" indent="0">
              <a:buNone/>
            </a:pPr>
            <a:r>
              <a:rPr lang="en-US" i="1" dirty="0">
                <a:latin typeface="Helvetica" charset="0"/>
                <a:ea typeface="ＭＳ Ｐゴシック" charset="0"/>
              </a:rPr>
              <a:t>     scaleup = small system small problem elapsed time</a:t>
            </a:r>
          </a:p>
          <a:p>
            <a:pPr marL="457200" lvl="1" indent="0">
              <a:buNone/>
            </a:pPr>
            <a:r>
              <a:rPr lang="en-US" i="1" dirty="0">
                <a:latin typeface="Helvetica" charset="0"/>
                <a:ea typeface="ＭＳ Ｐゴシック" charset="0"/>
              </a:rPr>
              <a:t>                     big system big problem elapsed time 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Scale up is </a:t>
            </a:r>
            <a:r>
              <a:rPr lang="en-US" b="1" dirty="0">
                <a:latin typeface="Helvetica" charset="0"/>
                <a:ea typeface="ＭＳ Ｐゴシック" charset="0"/>
              </a:rPr>
              <a:t>linear</a:t>
            </a:r>
            <a:r>
              <a:rPr lang="en-US" dirty="0">
                <a:latin typeface="Helvetica" charset="0"/>
                <a:ea typeface="ＭＳ Ｐゴシック" charset="0"/>
              </a:rPr>
              <a:t> if equation equals 1.</a:t>
            </a:r>
          </a:p>
        </p:txBody>
      </p:sp>
      <p:sp>
        <p:nvSpPr>
          <p:cNvPr id="33795" name="Line 4"/>
          <p:cNvSpPr>
            <a:spLocks noChangeShapeType="1"/>
          </p:cNvSpPr>
          <p:nvPr/>
        </p:nvSpPr>
        <p:spPr bwMode="auto">
          <a:xfrm flipV="1">
            <a:off x="2635685" y="2421082"/>
            <a:ext cx="2507815" cy="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6" name="Line 5"/>
          <p:cNvSpPr>
            <a:spLocks noChangeShapeType="1"/>
          </p:cNvSpPr>
          <p:nvPr/>
        </p:nvSpPr>
        <p:spPr bwMode="auto">
          <a:xfrm flipV="1">
            <a:off x="2589844" y="4533581"/>
            <a:ext cx="3883692" cy="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Speedup</a:t>
            </a:r>
          </a:p>
        </p:txBody>
      </p:sp>
      <p:pic>
        <p:nvPicPr>
          <p:cNvPr id="35842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38" y="1108995"/>
            <a:ext cx="7159625" cy="490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Scaleup</a:t>
            </a:r>
          </a:p>
        </p:txBody>
      </p:sp>
      <p:pic>
        <p:nvPicPr>
          <p:cNvPr id="3789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5" y="928688"/>
            <a:ext cx="7940675" cy="47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Batch and Transaction Scaleup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05817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Batch scaleup</a:t>
            </a:r>
            <a:r>
              <a:rPr lang="en-US" b="1" dirty="0">
                <a:latin typeface="Helvetica" charset="0"/>
              </a:rPr>
              <a:t>:</a:t>
            </a:r>
            <a:endParaRPr lang="en-US" dirty="0">
              <a:latin typeface="Helvetica" charset="0"/>
            </a:endParaRP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A single large job; typical of most decision support queries and scientific simulation.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Use an </a:t>
            </a:r>
            <a:r>
              <a:rPr lang="en-US" i="1" dirty="0">
                <a:latin typeface="Helvetica" charset="0"/>
                <a:ea typeface="ＭＳ Ｐゴシック" charset="0"/>
              </a:rPr>
              <a:t>N</a:t>
            </a:r>
            <a:r>
              <a:rPr lang="en-US" dirty="0">
                <a:latin typeface="Helvetica" charset="0"/>
                <a:ea typeface="ＭＳ Ｐゴシック" charset="0"/>
              </a:rPr>
              <a:t>-times larger computer on </a:t>
            </a:r>
            <a:r>
              <a:rPr lang="en-US" i="1" dirty="0">
                <a:latin typeface="Helvetica" charset="0"/>
                <a:ea typeface="ＭＳ Ｐゴシック" charset="0"/>
              </a:rPr>
              <a:t>N</a:t>
            </a:r>
            <a:r>
              <a:rPr lang="en-US" dirty="0">
                <a:latin typeface="Helvetica" charset="0"/>
                <a:ea typeface="ＭＳ Ｐゴシック" charset="0"/>
              </a:rPr>
              <a:t>-times larger problem.</a:t>
            </a:r>
          </a:p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Transaction scaleup</a:t>
            </a:r>
            <a:r>
              <a:rPr lang="en-US" dirty="0">
                <a:latin typeface="Helvetica" charset="0"/>
              </a:rPr>
              <a:t>: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Numerous small queries submitted by independent users to a shared database; typical transaction processing and timesharing systems.</a:t>
            </a:r>
          </a:p>
          <a:p>
            <a:pPr lvl="1"/>
            <a:r>
              <a:rPr lang="en-US" i="1" dirty="0">
                <a:latin typeface="Helvetica" charset="0"/>
                <a:ea typeface="ＭＳ Ｐゴシック" charset="0"/>
              </a:rPr>
              <a:t>N</a:t>
            </a:r>
            <a:r>
              <a:rPr lang="en-US" dirty="0">
                <a:latin typeface="Helvetica" charset="0"/>
                <a:ea typeface="ＭＳ Ｐゴシック" charset="0"/>
              </a:rPr>
              <a:t>-times as many users submitting requests (hence, </a:t>
            </a:r>
            <a:r>
              <a:rPr lang="en-US" i="1" dirty="0">
                <a:latin typeface="Helvetica" charset="0"/>
                <a:ea typeface="ＭＳ Ｐゴシック" charset="0"/>
              </a:rPr>
              <a:t>N</a:t>
            </a:r>
            <a:r>
              <a:rPr lang="en-US" dirty="0">
                <a:latin typeface="Helvetica" charset="0"/>
                <a:ea typeface="ＭＳ Ｐゴシック" charset="0"/>
              </a:rPr>
              <a:t>-times as many requests) to an </a:t>
            </a:r>
            <a:r>
              <a:rPr lang="en-US" i="1" dirty="0">
                <a:latin typeface="Helvetica" charset="0"/>
                <a:ea typeface="ＭＳ Ｐゴシック" charset="0"/>
              </a:rPr>
              <a:t>N</a:t>
            </a:r>
            <a:r>
              <a:rPr lang="en-US" dirty="0">
                <a:latin typeface="Helvetica" charset="0"/>
                <a:ea typeface="ＭＳ Ｐゴシック" charset="0"/>
              </a:rPr>
              <a:t>-times larger database, on an </a:t>
            </a:r>
            <a:r>
              <a:rPr lang="en-US" i="1" dirty="0">
                <a:latin typeface="Helvetica" charset="0"/>
                <a:ea typeface="ＭＳ Ｐゴシック" charset="0"/>
              </a:rPr>
              <a:t>N</a:t>
            </a:r>
            <a:r>
              <a:rPr lang="en-US" dirty="0">
                <a:latin typeface="Helvetica" charset="0"/>
                <a:ea typeface="ＭＳ Ｐゴシック" charset="0"/>
              </a:rPr>
              <a:t>-times larger computer.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Well-suited to parallel execution.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Factors Limiting Speedup and Scaleup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7741329" cy="5367972"/>
          </a:xfrm>
          <a:prstGeom prst="rect">
            <a:avLst/>
          </a:prstGeom>
        </p:spPr>
        <p:txBody>
          <a:bodyPr/>
          <a:lstStyle/>
          <a:p>
            <a:pPr>
              <a:buFont typeface="Monotype Sorts" charset="0"/>
              <a:buNone/>
            </a:pPr>
            <a:r>
              <a:rPr lang="en-US" dirty="0">
                <a:latin typeface="Helvetica" charset="0"/>
              </a:rPr>
              <a:t>Speedup and scaleup are often sublinear due to:</a:t>
            </a:r>
          </a:p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Startup/sequential costs</a:t>
            </a:r>
            <a:r>
              <a:rPr lang="en-US" dirty="0">
                <a:latin typeface="Helvetica" charset="0"/>
              </a:rPr>
              <a:t>: Cost of starting up multiple processes, and sequential computation before/after parallel computation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May dominate computation time, if the degree of parallelism is high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Suppose </a:t>
            </a:r>
            <a:r>
              <a:rPr lang="en-US" i="1" dirty="0">
                <a:latin typeface="Helvetica" charset="0"/>
              </a:rPr>
              <a:t>p </a:t>
            </a:r>
            <a:r>
              <a:rPr lang="en-US" dirty="0">
                <a:latin typeface="Helvetica" charset="0"/>
              </a:rPr>
              <a:t>fraction of computation is </a:t>
            </a:r>
            <a:r>
              <a:rPr lang="en-US" dirty="0" smtClean="0">
                <a:latin typeface="Helvetica" charset="0"/>
              </a:rPr>
              <a:t>parallel</a:t>
            </a:r>
          </a:p>
          <a:p>
            <a:pPr lvl="1">
              <a:buSzPct val="100000"/>
            </a:pPr>
            <a:r>
              <a:rPr lang="en-US" dirty="0" smtClean="0">
                <a:latin typeface="Helvetica" charset="0"/>
              </a:rPr>
              <a:t>Total time (1-p)T+(p/n)T</a:t>
            </a:r>
            <a:endParaRPr lang="en-US" dirty="0">
              <a:latin typeface="Helvetica" charset="0"/>
            </a:endParaRPr>
          </a:p>
          <a:p>
            <a:pPr lvl="1"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Amdahl’s law</a:t>
            </a:r>
            <a:r>
              <a:rPr lang="en-US" dirty="0">
                <a:latin typeface="Helvetica" charset="0"/>
              </a:rPr>
              <a:t>:    speedup limited to:  1 / [(1</a:t>
            </a:r>
            <a:r>
              <a:rPr lang="en-US" i="1" dirty="0">
                <a:latin typeface="Helvetica" charset="0"/>
              </a:rPr>
              <a:t>-p</a:t>
            </a:r>
            <a:r>
              <a:rPr lang="en-US" dirty="0">
                <a:latin typeface="Helvetica" charset="0"/>
              </a:rPr>
              <a:t>)+(</a:t>
            </a:r>
            <a:r>
              <a:rPr lang="en-US" i="1" dirty="0">
                <a:latin typeface="Helvetica" charset="0"/>
              </a:rPr>
              <a:t>p/n</a:t>
            </a:r>
            <a:r>
              <a:rPr lang="en-US" dirty="0">
                <a:latin typeface="Helvetica" charset="0"/>
              </a:rPr>
              <a:t>)] </a:t>
            </a:r>
          </a:p>
          <a:p>
            <a:pPr lvl="1"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Gustafson’s law</a:t>
            </a:r>
            <a:r>
              <a:rPr lang="en-US" dirty="0">
                <a:latin typeface="Helvetica" charset="0"/>
              </a:rPr>
              <a:t>: scaleup limited to: 1 / [</a:t>
            </a:r>
            <a:r>
              <a:rPr lang="en-US" i="1" dirty="0">
                <a:latin typeface="Helvetica" charset="0"/>
              </a:rPr>
              <a:t>n</a:t>
            </a:r>
            <a:r>
              <a:rPr lang="en-US" dirty="0">
                <a:latin typeface="Helvetica" charset="0"/>
              </a:rPr>
              <a:t>(1</a:t>
            </a:r>
            <a:r>
              <a:rPr lang="en-US" i="1" dirty="0">
                <a:latin typeface="Helvetica" charset="0"/>
              </a:rPr>
              <a:t>-p</a:t>
            </a:r>
            <a:r>
              <a:rPr lang="en-US" dirty="0">
                <a:latin typeface="Helvetica" charset="0"/>
              </a:rPr>
              <a:t>)+</a:t>
            </a:r>
            <a:r>
              <a:rPr lang="en-US" i="1" dirty="0">
                <a:latin typeface="Helvetica" charset="0"/>
              </a:rPr>
              <a:t>p</a:t>
            </a:r>
            <a:r>
              <a:rPr lang="en-US" dirty="0">
                <a:latin typeface="Helvetica" charset="0"/>
              </a:rPr>
              <a:t>] </a:t>
            </a:r>
          </a:p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Interference</a:t>
            </a:r>
            <a:r>
              <a:rPr lang="en-US" dirty="0">
                <a:latin typeface="Helvetica" charset="0"/>
              </a:rPr>
              <a:t>:  Processes accessing shared resources (</a:t>
            </a:r>
            <a:r>
              <a:rPr lang="en-US" dirty="0" err="1">
                <a:latin typeface="Helvetica" charset="0"/>
              </a:rPr>
              <a:t>e.g.,system</a:t>
            </a:r>
            <a:r>
              <a:rPr lang="en-US" dirty="0">
                <a:latin typeface="Helvetica" charset="0"/>
              </a:rPr>
              <a:t> bus, disks, or locks) compete with each other, thus spending time waiting on other processes, rather than performing useful work.</a:t>
            </a:r>
          </a:p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Skew</a:t>
            </a:r>
            <a:r>
              <a:rPr lang="en-US" dirty="0">
                <a:latin typeface="Helvetica" charset="0"/>
              </a:rPr>
              <a:t>: Increasing the degree of parallelism increases the variance in service times of </a:t>
            </a:r>
            <a:r>
              <a:rPr lang="en-US" dirty="0" err="1">
                <a:latin typeface="Helvetica" charset="0"/>
              </a:rPr>
              <a:t>parallely</a:t>
            </a:r>
            <a:r>
              <a:rPr lang="en-US" dirty="0">
                <a:latin typeface="Helvetica" charset="0"/>
              </a:rPr>
              <a:t> executing tasks.  Overall execution time determined by </a:t>
            </a:r>
            <a:r>
              <a:rPr lang="en-US" b="1" dirty="0">
                <a:latin typeface="Helvetica" charset="0"/>
              </a:rPr>
              <a:t>slowest</a:t>
            </a:r>
            <a:r>
              <a:rPr lang="en-US" dirty="0">
                <a:latin typeface="Helvetica" charset="0"/>
              </a:rPr>
              <a:t> of </a:t>
            </a:r>
            <a:r>
              <a:rPr lang="en-US" dirty="0" err="1">
                <a:latin typeface="Helvetica" charset="0"/>
              </a:rPr>
              <a:t>parallely</a:t>
            </a:r>
            <a:r>
              <a:rPr lang="en-US" dirty="0">
                <a:latin typeface="Helvetica" charset="0"/>
              </a:rPr>
              <a:t> executing tasks.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D58061-B7BB-4781-BC31-954AC76EA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062" y="26275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Interconnection Network Architectures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785717" cy="536797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Bus</a:t>
            </a:r>
            <a:r>
              <a:rPr lang="en-US" dirty="0">
                <a:latin typeface="Helvetica" charset="0"/>
              </a:rPr>
              <a:t>. System components send data on and receive data from a single communication bus;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Does not scale well with increasing parallelism.</a:t>
            </a:r>
          </a:p>
          <a:p>
            <a:pPr>
              <a:lnSpc>
                <a:spcPct val="90000"/>
              </a:lnSpc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Mesh</a:t>
            </a:r>
            <a:r>
              <a:rPr lang="en-US" dirty="0">
                <a:latin typeface="Helvetica" charset="0"/>
              </a:rPr>
              <a:t>. Components are arranged as nodes in a grid, and each component is connected to all adjacent components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Communication links grow with growing number of components, and so scales better.  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But may require 2</a:t>
            </a:r>
            <a:r>
              <a:rPr lang="en-US" dirty="0">
                <a:latin typeface="Helvetica" charset="0"/>
                <a:ea typeface="ＭＳ Ｐゴシック" charset="0"/>
                <a:sym typeface="Symbol" charset="0"/>
              </a:rPr>
              <a:t></a:t>
            </a:r>
            <a:r>
              <a:rPr lang="en-US" i="1" dirty="0">
                <a:latin typeface="Helvetica" charset="0"/>
                <a:ea typeface="ＭＳ Ｐゴシック" charset="0"/>
                <a:sym typeface="Symbol" charset="0"/>
              </a:rPr>
              <a:t>n</a:t>
            </a:r>
            <a:r>
              <a:rPr lang="en-US" dirty="0">
                <a:latin typeface="Helvetica" charset="0"/>
                <a:ea typeface="ＭＳ Ｐゴシック" charset="0"/>
              </a:rPr>
              <a:t> hops to send message to a node (or </a:t>
            </a:r>
            <a:r>
              <a:rPr lang="en-US" dirty="0">
                <a:latin typeface="Helvetica" charset="0"/>
                <a:ea typeface="ＭＳ Ｐゴシック" charset="0"/>
                <a:sym typeface="Symbol" charset="0"/>
              </a:rPr>
              <a:t></a:t>
            </a:r>
            <a:r>
              <a:rPr lang="en-US" i="1" dirty="0">
                <a:latin typeface="Helvetica" charset="0"/>
                <a:ea typeface="ＭＳ Ｐゴシック" charset="0"/>
              </a:rPr>
              <a:t>n</a:t>
            </a:r>
            <a:r>
              <a:rPr lang="en-US" dirty="0">
                <a:latin typeface="Helvetica" charset="0"/>
                <a:ea typeface="ＭＳ Ｐゴシック" charset="0"/>
              </a:rPr>
              <a:t> with wraparound connections at edge of grid).</a:t>
            </a:r>
          </a:p>
          <a:p>
            <a:pPr>
              <a:lnSpc>
                <a:spcPct val="90000"/>
              </a:lnSpc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Hypercube</a:t>
            </a:r>
            <a:r>
              <a:rPr lang="en-US" dirty="0">
                <a:latin typeface="Helvetica" charset="0"/>
              </a:rPr>
              <a:t>.  Components are numbered in binary;  components are connected to one another if their binary representations differ in exactly one bit.</a:t>
            </a:r>
          </a:p>
          <a:p>
            <a:pPr lvl="1">
              <a:lnSpc>
                <a:spcPct val="90000"/>
              </a:lnSpc>
            </a:pPr>
            <a:r>
              <a:rPr lang="en-US" i="1" dirty="0">
                <a:latin typeface="Helvetica" charset="0"/>
                <a:ea typeface="ＭＳ Ｐゴシック" charset="0"/>
              </a:rPr>
              <a:t>n</a:t>
            </a:r>
            <a:r>
              <a:rPr lang="en-US" dirty="0">
                <a:latin typeface="Helvetica" charset="0"/>
                <a:ea typeface="ＭＳ Ｐゴシック" charset="0"/>
              </a:rPr>
              <a:t> components are connected to </a:t>
            </a:r>
            <a:r>
              <a:rPr lang="en-US" i="1" dirty="0">
                <a:latin typeface="Helvetica" charset="0"/>
                <a:ea typeface="ＭＳ Ｐゴシック" charset="0"/>
              </a:rPr>
              <a:t>log(n) </a:t>
            </a:r>
            <a:r>
              <a:rPr lang="en-US" dirty="0">
                <a:latin typeface="Helvetica" charset="0"/>
                <a:ea typeface="ＭＳ Ｐゴシック" charset="0"/>
              </a:rPr>
              <a:t>other components and can reach each other via at most </a:t>
            </a:r>
            <a:r>
              <a:rPr lang="en-US" i="1" dirty="0">
                <a:latin typeface="Helvetica" charset="0"/>
                <a:ea typeface="ＭＳ Ｐゴシック" charset="0"/>
              </a:rPr>
              <a:t>log(n) </a:t>
            </a:r>
            <a:r>
              <a:rPr lang="en-US" dirty="0">
                <a:latin typeface="Helvetica" charset="0"/>
                <a:ea typeface="ＭＳ Ｐゴシック" charset="0"/>
              </a:rPr>
              <a:t>links; reduces communication delays.</a:t>
            </a:r>
          </a:p>
          <a:p>
            <a:pPr>
              <a:lnSpc>
                <a:spcPct val="90000"/>
              </a:lnSpc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Tree-like Topology</a:t>
            </a:r>
            <a:r>
              <a:rPr lang="en-US" dirty="0">
                <a:solidFill>
                  <a:srgbClr val="000090"/>
                </a:solidFill>
                <a:latin typeface="Helvetica" charset="0"/>
              </a:rPr>
              <a:t>.</a:t>
            </a:r>
            <a:r>
              <a:rPr lang="en-US" b="1" dirty="0">
                <a:solidFill>
                  <a:srgbClr val="000090"/>
                </a:solidFill>
                <a:latin typeface="Helvetica" charset="0"/>
              </a:rPr>
              <a:t>  </a:t>
            </a:r>
            <a:r>
              <a:rPr lang="en-US" dirty="0">
                <a:latin typeface="Helvetica" charset="0"/>
              </a:rPr>
              <a:t>Widely used in data centers today</a:t>
            </a:r>
            <a:endParaRPr lang="en-US" b="1" dirty="0">
              <a:solidFill>
                <a:srgbClr val="000090"/>
              </a:solidFill>
              <a:latin typeface="Helvetica" charset="0"/>
            </a:endParaRPr>
          </a:p>
          <a:p>
            <a:pPr>
              <a:lnSpc>
                <a:spcPct val="90000"/>
              </a:lnSpc>
            </a:pPr>
            <a:endParaRPr lang="en-US" dirty="0"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303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Interconnection Architectures</a:t>
            </a:r>
          </a:p>
        </p:txBody>
      </p:sp>
      <p:pic>
        <p:nvPicPr>
          <p:cNvPr id="46082" name="Picture 1" descr="20_04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532"/>
          <a:stretch>
            <a:fillRect/>
          </a:stretch>
        </p:blipFill>
        <p:spPr bwMode="auto">
          <a:xfrm>
            <a:off x="803354" y="1382713"/>
            <a:ext cx="7455122" cy="498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Interconnection Network Architectures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693502" y="1093788"/>
            <a:ext cx="8007736" cy="286219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Tree-like or Fat-Tree Topology</a:t>
            </a:r>
            <a:r>
              <a:rPr lang="en-US" dirty="0">
                <a:solidFill>
                  <a:srgbClr val="002060"/>
                </a:solidFill>
                <a:latin typeface="Helvetica" charset="0"/>
              </a:rPr>
              <a:t>: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  </a:t>
            </a:r>
            <a:r>
              <a:rPr lang="en-US" dirty="0">
                <a:latin typeface="Helvetica" charset="0"/>
              </a:rPr>
              <a:t>widely used in data centers today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  <a:latin typeface="Helvetica" charset="0"/>
                <a:ea typeface="ＭＳ Ｐゴシック" charset="0"/>
              </a:rPr>
              <a:t>Top of rack switch for </a:t>
            </a:r>
            <a:r>
              <a:rPr lang="en-US" dirty="0" err="1">
                <a:solidFill>
                  <a:srgbClr val="000000"/>
                </a:solidFill>
                <a:latin typeface="Helvetica" charset="0"/>
                <a:ea typeface="ＭＳ Ｐゴシック" charset="0"/>
              </a:rPr>
              <a:t>approx</a:t>
            </a:r>
            <a:r>
              <a:rPr lang="en-US" dirty="0">
                <a:solidFill>
                  <a:srgbClr val="000000"/>
                </a:solidFill>
                <a:latin typeface="Helvetica" charset="0"/>
                <a:ea typeface="ＭＳ Ｐゴシック" charset="0"/>
              </a:rPr>
              <a:t> 40 machines in rack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  <a:latin typeface="Helvetica" charset="0"/>
                <a:ea typeface="ＭＳ Ｐゴシック" charset="0"/>
              </a:rPr>
              <a:t>Each top of rack switch connected to multiple aggregation switches.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  <a:latin typeface="Helvetica" charset="0"/>
                <a:ea typeface="ＭＳ Ｐゴシック" charset="0"/>
              </a:rPr>
              <a:t>Aggregation switches connect to multiple core switches.  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Data center fabric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0F1240-2AF6-4F54-8D6B-8F36F5D426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8"/>
          <a:stretch/>
        </p:blipFill>
        <p:spPr>
          <a:xfrm>
            <a:off x="2494643" y="2701821"/>
            <a:ext cx="5192376" cy="32417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F1F7-CF59-4606-9584-6B7BABD05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Technologies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76184-B063-4E84-8C8D-350279418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80" y="1102497"/>
            <a:ext cx="7466121" cy="5367972"/>
          </a:xfrm>
        </p:spPr>
        <p:txBody>
          <a:bodyPr/>
          <a:lstStyle/>
          <a:p>
            <a:r>
              <a:rPr lang="en-IN" dirty="0"/>
              <a:t>Ethernet</a:t>
            </a:r>
          </a:p>
          <a:p>
            <a:pPr lvl="1"/>
            <a:r>
              <a:rPr lang="en-IN" dirty="0"/>
              <a:t>1 Gbps and 10 Gbps common, 40 Gbps and 100 Gbps are available at higher cost </a:t>
            </a:r>
          </a:p>
          <a:p>
            <a:r>
              <a:rPr lang="en-IN" dirty="0"/>
              <a:t>Fiber Channel</a:t>
            </a:r>
          </a:p>
          <a:p>
            <a:pPr lvl="1"/>
            <a:r>
              <a:rPr lang="en-IN" dirty="0"/>
              <a:t>32-138 Gbps available</a:t>
            </a:r>
          </a:p>
          <a:p>
            <a:r>
              <a:rPr lang="en-US" b="1" dirty="0" err="1">
                <a:solidFill>
                  <a:srgbClr val="002060"/>
                </a:solidFill>
                <a:latin typeface="Helvetica" charset="0"/>
              </a:rPr>
              <a:t>Infiniband</a:t>
            </a:r>
            <a:endParaRPr lang="en-US" b="1" dirty="0">
              <a:solidFill>
                <a:srgbClr val="002060"/>
              </a:solidFill>
              <a:latin typeface="Helvetica" charset="0"/>
            </a:endParaRPr>
          </a:p>
          <a:p>
            <a:pPr lvl="1"/>
            <a:r>
              <a:rPr lang="en-US" dirty="0">
                <a:latin typeface="Helvetica" charset="0"/>
              </a:rPr>
              <a:t>A very-low-latency networking technology </a:t>
            </a:r>
          </a:p>
          <a:p>
            <a:pPr lvl="2"/>
            <a:r>
              <a:rPr lang="en-US" dirty="0">
                <a:latin typeface="Helvetica" charset="0"/>
              </a:rPr>
              <a:t>0.5 to 0.7 microseconds, compared to a few microseconds for optimized ethernet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046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174"/>
            <a:ext cx="7780846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Parallel Database Architectures</a:t>
            </a:r>
          </a:p>
        </p:txBody>
      </p:sp>
      <p:pic>
        <p:nvPicPr>
          <p:cNvPr id="5222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952500"/>
            <a:ext cx="7956550" cy="544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Shared Memory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4718365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Processors (or processor cores) and disks have access to a common memory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Via a bus in earlier days, through an interconnection network today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Extremely efficient communication between processors 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Downside: shared-memory architecture is not scalable beyond 64 to 128 processor cores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Memory interconnection network becomes a bottleneck</a:t>
            </a:r>
          </a:p>
          <a:p>
            <a:endParaRPr lang="en-US" dirty="0">
              <a:latin typeface="Helvetica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E7DB735A-CC54-4B1B-9290-708F5B6E8C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68" b="53600"/>
          <a:stretch/>
        </p:blipFill>
        <p:spPr bwMode="auto">
          <a:xfrm>
            <a:off x="5826205" y="1585674"/>
            <a:ext cx="3240793" cy="252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Modern Shared Memory Architecture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8A0A4D6-4C2D-4B5D-BC36-4C94E72D8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24551" y="1262270"/>
            <a:ext cx="8294898" cy="46008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Cache Levels</a:t>
            </a:r>
          </a:p>
        </p:txBody>
      </p:sp>
      <p:sp>
        <p:nvSpPr>
          <p:cNvPr id="103426" name="Content Placeholder 3"/>
          <p:cNvSpPr>
            <a:spLocks noGrp="1"/>
          </p:cNvSpPr>
          <p:nvPr>
            <p:ph idx="1"/>
          </p:nvPr>
        </p:nvSpPr>
        <p:spPr>
          <a:xfrm>
            <a:off x="665824" y="1102497"/>
            <a:ext cx="8179725" cy="1130564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Cache line: typically 64 bytes in today’s processors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Cache levels within a single multi-core processor </a:t>
            </a:r>
          </a:p>
          <a:p>
            <a:endParaRPr lang="en-US" b="1" dirty="0">
              <a:solidFill>
                <a:srgbClr val="000090"/>
              </a:solidFill>
              <a:latin typeface="Helvetica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EF36A19-BB09-4943-A973-297F8F134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22164" y="1885770"/>
            <a:ext cx="4099671" cy="2200689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0078781-95DA-41A4-B622-237586537F86}"/>
              </a:ext>
            </a:extLst>
          </p:cNvPr>
          <p:cNvSpPr txBox="1">
            <a:spLocks/>
          </p:cNvSpPr>
          <p:nvPr/>
        </p:nvSpPr>
        <p:spPr bwMode="auto">
          <a:xfrm>
            <a:off x="639190" y="4175564"/>
            <a:ext cx="7883373" cy="898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742950" indent="-28575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2pPr>
            <a:lvl3pPr marL="1085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3pPr>
            <a:lvl4pPr marL="14287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4pPr>
            <a:lvl5pPr marL="17716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5pPr>
            <a:lvl6pPr marL="2228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SzPct val="100000"/>
            </a:pPr>
            <a:r>
              <a:rPr lang="en-US" sz="1700" kern="0" dirty="0">
                <a:latin typeface="Helvetica" charset="0"/>
              </a:rPr>
              <a:t>Shared memory system can have multiple processors, each with its own cache levels</a:t>
            </a:r>
          </a:p>
          <a:p>
            <a:endParaRPr lang="en-US" sz="1700" b="1" kern="0" dirty="0">
              <a:solidFill>
                <a:srgbClr val="000090"/>
              </a:solidFill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Cache Coherency</a:t>
            </a:r>
          </a:p>
        </p:txBody>
      </p:sp>
      <p:sp>
        <p:nvSpPr>
          <p:cNvPr id="103426" name="Content Placeholder 3"/>
          <p:cNvSpPr>
            <a:spLocks noGrp="1"/>
          </p:cNvSpPr>
          <p:nvPr>
            <p:ph idx="1"/>
          </p:nvPr>
        </p:nvSpPr>
        <p:spPr>
          <a:xfrm>
            <a:off x="674703" y="1102497"/>
            <a:ext cx="7759083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Cache coherency: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Local cache may have out of date value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Strong vs weak consistency models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With weak consistency, need special instructions to ensure cache is up to date</a:t>
            </a:r>
          </a:p>
          <a:p>
            <a:r>
              <a:rPr lang="en-US" dirty="0">
                <a:latin typeface="Helvetica" charset="0"/>
                <a:ea typeface="ＭＳ Ｐゴシック" charset="0"/>
              </a:rPr>
              <a:t>Memory barrier instructions</a:t>
            </a:r>
          </a:p>
          <a:p>
            <a:pPr lvl="1"/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Store barrier (</a:t>
            </a:r>
            <a:r>
              <a:rPr lang="en-US" b="1" dirty="0" err="1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sfence</a:t>
            </a: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)</a:t>
            </a:r>
          </a:p>
          <a:p>
            <a:pPr lvl="2"/>
            <a:r>
              <a:rPr lang="en-US" dirty="0">
                <a:latin typeface="Helvetica" charset="0"/>
                <a:ea typeface="ＭＳ Ｐゴシック" charset="0"/>
              </a:rPr>
              <a:t>Instruction returns after forcing cached data to be written to memory and invalidations sent to all caches</a:t>
            </a:r>
          </a:p>
          <a:p>
            <a:pPr lvl="1"/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Load barrier (</a:t>
            </a:r>
            <a:r>
              <a:rPr lang="en-US" b="1" dirty="0" err="1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lfence</a:t>
            </a: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)</a:t>
            </a:r>
          </a:p>
          <a:p>
            <a:pPr lvl="2"/>
            <a:r>
              <a:rPr lang="en-US" dirty="0">
                <a:latin typeface="Helvetica" charset="0"/>
                <a:ea typeface="ＭＳ Ｐゴシック" charset="0"/>
              </a:rPr>
              <a:t>Returns after ensuring all pending cache invalidations are processed</a:t>
            </a:r>
          </a:p>
          <a:p>
            <a:pPr lvl="1"/>
            <a:r>
              <a:rPr lang="en-US" dirty="0" err="1">
                <a:latin typeface="Helvetica" charset="0"/>
                <a:ea typeface="ＭＳ Ｐゴシック" charset="0"/>
              </a:rPr>
              <a:t>mfence</a:t>
            </a:r>
            <a:r>
              <a:rPr lang="en-US" dirty="0">
                <a:latin typeface="Helvetica" charset="0"/>
                <a:ea typeface="ＭＳ Ｐゴシック" charset="0"/>
              </a:rPr>
              <a:t> instruction does both of above</a:t>
            </a:r>
          </a:p>
          <a:p>
            <a:r>
              <a:rPr lang="en-US" dirty="0">
                <a:latin typeface="Helvetica" charset="0"/>
                <a:ea typeface="ＭＳ Ｐゴシック" charset="0"/>
              </a:rPr>
              <a:t>Locking code usually takes care of barrier instructions</a:t>
            </a:r>
          </a:p>
          <a:p>
            <a:pPr lvl="1"/>
            <a:r>
              <a:rPr lang="en-US" dirty="0" err="1">
                <a:latin typeface="Helvetica" charset="0"/>
                <a:ea typeface="ＭＳ Ｐゴシック" charset="0"/>
              </a:rPr>
              <a:t>Lfence</a:t>
            </a:r>
            <a:r>
              <a:rPr lang="en-US" dirty="0">
                <a:latin typeface="Helvetica" charset="0"/>
                <a:ea typeface="ＭＳ Ｐゴシック" charset="0"/>
              </a:rPr>
              <a:t> done after lock acquisition and </a:t>
            </a:r>
            <a:r>
              <a:rPr lang="en-US" dirty="0" err="1">
                <a:latin typeface="Helvetica" charset="0"/>
                <a:ea typeface="ＭＳ Ｐゴシック" charset="0"/>
              </a:rPr>
              <a:t>sfence</a:t>
            </a:r>
            <a:r>
              <a:rPr lang="en-US" dirty="0">
                <a:latin typeface="Helvetica" charset="0"/>
                <a:ea typeface="ＭＳ Ｐゴシック" charset="0"/>
              </a:rPr>
              <a:t> done before lock release</a:t>
            </a:r>
          </a:p>
          <a:p>
            <a:pPr lvl="2"/>
            <a:endParaRPr lang="en-US" b="1" dirty="0">
              <a:solidFill>
                <a:srgbClr val="002060"/>
              </a:solidFill>
              <a:latin typeface="Helvetica" charset="0"/>
              <a:ea typeface="ＭＳ Ｐゴシック" charset="0"/>
            </a:endParaRPr>
          </a:p>
          <a:p>
            <a:endParaRPr lang="en-US" b="1" dirty="0">
              <a:solidFill>
                <a:srgbClr val="000090"/>
              </a:solidFill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62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Shared Disk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4234181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All processors can directly access all disks via an interconnection network, but the processors have private memories.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Architecture provides a degree of </a:t>
            </a: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fault-tolerance</a:t>
            </a:r>
            <a:r>
              <a:rPr lang="en-US" dirty="0">
                <a:latin typeface="Helvetica" charset="0"/>
                <a:ea typeface="ＭＳ Ｐゴシック" charset="0"/>
              </a:rPr>
              <a:t> — if a processor fails, the other processors can take over its tasks</a:t>
            </a:r>
          </a:p>
          <a:p>
            <a:pPr lvl="2"/>
            <a:r>
              <a:rPr lang="en-US" dirty="0">
                <a:latin typeface="Helvetica" charset="0"/>
                <a:ea typeface="ＭＳ Ｐゴシック" charset="0"/>
              </a:rPr>
              <a:t>the data of the failed processor is resident on disks that are accessible from all processors.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Downside: bottleneck now occurs at interconnection to the disk subsystem.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E5DFE092-5F76-43A4-971F-0A7F836612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49" t="-708" r="12451" b="54308"/>
          <a:stretch/>
        </p:blipFill>
        <p:spPr bwMode="auto">
          <a:xfrm>
            <a:off x="5524901" y="1585674"/>
            <a:ext cx="3619099" cy="2753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01" y="4307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/>
              <a:t>Storage Area Network (SAN)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8135980-776C-4E90-B090-767B452D7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751891" y="1109709"/>
            <a:ext cx="6175393" cy="41049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Shared Nothing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4092045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Node consists of a processor, memory, and one or more disks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All communication via interconnection network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Can be scaled up to thousands of processors without interference.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Main drawback: cost of communication and non-local disk access; sending data involves software interaction at both ends.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3372EDFF-91A4-4231-8D98-E9A9DEAAE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272" t="51074" r="66572" b="-2460"/>
          <a:stretch/>
        </p:blipFill>
        <p:spPr bwMode="auto">
          <a:xfrm>
            <a:off x="5226451" y="1540043"/>
            <a:ext cx="3619099" cy="3049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Hierarchical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813288" cy="2326503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Combines characteristics of shared-memory, shared-disk, and shared-nothing architectures.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Top level is a shared-nothing architecture</a:t>
            </a:r>
          </a:p>
          <a:p>
            <a:pPr lvl="2"/>
            <a:r>
              <a:rPr lang="en-US" dirty="0">
                <a:latin typeface="Helvetica" charset="0"/>
              </a:rPr>
              <a:t>With each node of the system being a shared-memory system</a:t>
            </a:r>
          </a:p>
          <a:p>
            <a:pPr lvl="1"/>
            <a:r>
              <a:rPr lang="en-US" dirty="0">
                <a:latin typeface="Helvetica" charset="0"/>
              </a:rPr>
              <a:t>Alternatively, top level could be a shared-disk system</a:t>
            </a:r>
          </a:p>
          <a:p>
            <a:pPr lvl="2"/>
            <a:r>
              <a:rPr lang="en-US" dirty="0">
                <a:latin typeface="Helvetica" charset="0"/>
              </a:rPr>
              <a:t>With each node of the system being a shared-memory system</a:t>
            </a:r>
          </a:p>
          <a:p>
            <a:pPr>
              <a:buFont typeface="Monotype Sorts" charset="0"/>
              <a:buNone/>
            </a:pPr>
            <a:endParaRPr lang="en-US" dirty="0">
              <a:latin typeface="Helvetica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AC13A6B0-5D21-4E1D-BAA1-C82C42AE38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96" t="53302" r="-1110" b="-4112"/>
          <a:stretch/>
        </p:blipFill>
        <p:spPr bwMode="auto">
          <a:xfrm>
            <a:off x="1386038" y="3455267"/>
            <a:ext cx="6102419" cy="3015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E91EE-C6FF-43C8-A5DC-0B644F2B0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Shared-Memory Vs Shared-Nothing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1BDB1-BA57-4C66-AA70-4A603B8BA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58" y="1102497"/>
            <a:ext cx="7803472" cy="5367972"/>
          </a:xfr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Shared-memory internally looks like shared-nothing!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Each processor has direct access to its own memory, and indirect (hardware level) access to rest of memory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Also called </a:t>
            </a: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non-uniform memory architecture (NUMA)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Shared-nothing can be made to look like shared memory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Reduce the complexity of programming such systems by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distributed virtual-memory</a:t>
            </a:r>
            <a:r>
              <a:rPr lang="en-US" dirty="0">
                <a:latin typeface="Helvetica" charset="0"/>
              </a:rPr>
              <a:t> abstraction</a:t>
            </a:r>
          </a:p>
          <a:p>
            <a:pPr lvl="1"/>
            <a:r>
              <a:rPr lang="en-US" b="1" dirty="0">
                <a:solidFill>
                  <a:srgbClr val="002060"/>
                </a:solidFill>
                <a:latin typeface="Helvetica" charset="0"/>
              </a:rPr>
              <a:t>Remote Direct Memory Access (RDMA) </a:t>
            </a:r>
            <a:r>
              <a:rPr lang="en-US" dirty="0">
                <a:latin typeface="Helvetica" charset="0"/>
              </a:rPr>
              <a:t>provides very low-latency shared memory abstraction on shared-nothing systems</a:t>
            </a:r>
          </a:p>
          <a:p>
            <a:pPr lvl="2"/>
            <a:r>
              <a:rPr lang="en-US" dirty="0">
                <a:latin typeface="Helvetica" charset="0"/>
              </a:rPr>
              <a:t>Often implemented on top of </a:t>
            </a:r>
            <a:r>
              <a:rPr lang="en-US" dirty="0" err="1">
                <a:latin typeface="Helvetica" charset="0"/>
              </a:rPr>
              <a:t>i</a:t>
            </a:r>
            <a:r>
              <a:rPr lang="en-US" b="1" dirty="0" err="1">
                <a:solidFill>
                  <a:srgbClr val="002060"/>
                </a:solidFill>
                <a:latin typeface="Helvetica" charset="0"/>
              </a:rPr>
              <a:t>nfiniband</a:t>
            </a:r>
            <a:r>
              <a:rPr lang="en-US" dirty="0">
                <a:latin typeface="Helvetica" charset="0"/>
              </a:rPr>
              <a:t> due it its very-low-latency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But careless programming can lead to performance issues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320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Distributed Systems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14695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Data spread over multiple machines (also referred to as</a:t>
            </a:r>
            <a:r>
              <a:rPr lang="en-US" dirty="0">
                <a:solidFill>
                  <a:srgbClr val="002060"/>
                </a:solidFill>
                <a:latin typeface="Helvetica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sites</a:t>
            </a:r>
            <a:r>
              <a:rPr lang="en-US" dirty="0">
                <a:solidFill>
                  <a:srgbClr val="002060"/>
                </a:solidFill>
                <a:latin typeface="Helvetica" charset="0"/>
              </a:rPr>
              <a:t> </a:t>
            </a:r>
            <a:r>
              <a:rPr lang="en-US" dirty="0">
                <a:latin typeface="Helvetica" charset="0"/>
              </a:rPr>
              <a:t>or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nodes</a:t>
            </a:r>
            <a:r>
              <a:rPr lang="en-US" dirty="0">
                <a:latin typeface="Helvetica" charset="0"/>
              </a:rPr>
              <a:t>).</a:t>
            </a:r>
          </a:p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Local-area networks </a:t>
            </a:r>
            <a:r>
              <a:rPr lang="en-US" b="1" dirty="0">
                <a:latin typeface="Helvetica" charset="0"/>
              </a:rPr>
              <a:t>(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LANs</a:t>
            </a:r>
            <a:r>
              <a:rPr lang="en-US" dirty="0">
                <a:latin typeface="Helvetica" charset="0"/>
              </a:rPr>
              <a:t>)</a:t>
            </a:r>
          </a:p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Wide-area networks </a:t>
            </a:r>
            <a:r>
              <a:rPr lang="en-US" b="1" dirty="0">
                <a:latin typeface="Helvetica" charset="0"/>
              </a:rPr>
              <a:t>(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WAN</a:t>
            </a:r>
            <a:r>
              <a:rPr lang="en-US" dirty="0">
                <a:latin typeface="Helvetica" charset="0"/>
              </a:rPr>
              <a:t>s)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Higher latency</a:t>
            </a:r>
          </a:p>
        </p:txBody>
      </p:sp>
      <p:pic>
        <p:nvPicPr>
          <p:cNvPr id="6246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765" y="2546585"/>
            <a:ext cx="4460167" cy="3085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Helvetica" charset="0"/>
              </a:rPr>
              <a:t>Distributed Databases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7688063" cy="536797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Homogeneous</a:t>
            </a:r>
            <a:r>
              <a:rPr lang="en-US" dirty="0">
                <a:latin typeface="Helvetica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distributed databases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Same software/schema on all sites, data may be partitioned among sites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Goal: provide a view of a single database, hiding details of distribution</a:t>
            </a:r>
          </a:p>
          <a:p>
            <a:pPr>
              <a:lnSpc>
                <a:spcPct val="90000"/>
              </a:lnSpc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Heterogeneous distributed databases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Different software/schema on different sites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Goal: integrate existing databases to provide useful functionality</a:t>
            </a:r>
          </a:p>
          <a:p>
            <a:pPr>
              <a:lnSpc>
                <a:spcPct val="90000"/>
              </a:lnSpc>
              <a:buSzPct val="100000"/>
            </a:pPr>
            <a:r>
              <a:rPr lang="en-US" dirty="0">
                <a:latin typeface="Helvetica" charset="0"/>
              </a:rPr>
              <a:t>Differentiate between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local transactions</a:t>
            </a:r>
            <a:r>
              <a:rPr lang="en-US" i="1" dirty="0">
                <a:latin typeface="Helvetica" charset="0"/>
              </a:rPr>
              <a:t> </a:t>
            </a:r>
            <a:r>
              <a:rPr lang="en-US" dirty="0">
                <a:latin typeface="Helvetica" charset="0"/>
              </a:rPr>
              <a:t>and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global transactions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A </a:t>
            </a:r>
            <a:r>
              <a:rPr lang="en-US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local transaction </a:t>
            </a:r>
            <a:r>
              <a:rPr lang="en-US" dirty="0">
                <a:latin typeface="Helvetica" charset="0"/>
                <a:ea typeface="ＭＳ Ｐゴシック" charset="0"/>
              </a:rPr>
              <a:t>accesses data in the </a:t>
            </a:r>
            <a:r>
              <a:rPr lang="en-US" i="1" dirty="0">
                <a:latin typeface="Helvetica" charset="0"/>
                <a:ea typeface="ＭＳ Ｐゴシック" charset="0"/>
              </a:rPr>
              <a:t>single</a:t>
            </a:r>
            <a:r>
              <a:rPr lang="en-US" dirty="0">
                <a:latin typeface="Helvetica" charset="0"/>
                <a:ea typeface="ＭＳ Ｐゴシック" charset="0"/>
              </a:rPr>
              <a:t> site at which the transaction was initiated.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ＭＳ Ｐゴシック" charset="0"/>
              </a:rPr>
              <a:t>A </a:t>
            </a:r>
            <a:r>
              <a:rPr lang="en-US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global transaction </a:t>
            </a:r>
            <a:r>
              <a:rPr lang="en-US" dirty="0">
                <a:latin typeface="Helvetica" charset="0"/>
                <a:ea typeface="ＭＳ Ｐゴシック" charset="0"/>
              </a:rPr>
              <a:t>either accesses data in a site different from the one at which the transaction was initiated or accesses data in several different sites.</a:t>
            </a:r>
          </a:p>
          <a:p>
            <a:pPr>
              <a:lnSpc>
                <a:spcPct val="90000"/>
              </a:lnSpc>
            </a:pPr>
            <a:endParaRPr lang="en-US" dirty="0"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492897"/>
            <a:ext cx="8077200" cy="217317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Data Integration and Distributed Databases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047565"/>
            <a:ext cx="7759084" cy="5422903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Data integration between multiple distributed databases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Benefits:</a:t>
            </a:r>
          </a:p>
          <a:p>
            <a:pPr lvl="1"/>
            <a:r>
              <a:rPr lang="en-US" dirty="0">
                <a:latin typeface="Helvetica" charset="0"/>
              </a:rPr>
              <a:t>Sharing data – users at one site able to access the data residing at some other sites.</a:t>
            </a:r>
          </a:p>
          <a:p>
            <a:pPr lvl="1"/>
            <a:r>
              <a:rPr lang="en-US" dirty="0">
                <a:latin typeface="Helvetica" charset="0"/>
              </a:rPr>
              <a:t>Autonomy – each site is able to retain a degree of control over data stored locally.</a:t>
            </a:r>
          </a:p>
          <a:p>
            <a:pPr marL="0" indent="0">
              <a:buNone/>
            </a:pPr>
            <a:endParaRPr lang="en-US" dirty="0">
              <a:latin typeface="Helvetica" charset="0"/>
              <a:ea typeface="ＭＳ Ｐゴシック" charset="0"/>
            </a:endParaRPr>
          </a:p>
          <a:p>
            <a:endParaRPr lang="en-US" dirty="0"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167A2-8DA1-4950-85C7-D6CB101FC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003F3-B623-4952-BD61-2016790E3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825" y="1102497"/>
            <a:ext cx="7723573" cy="5367972"/>
          </a:xfrm>
        </p:spPr>
        <p:txBody>
          <a:bodyPr/>
          <a:lstStyle/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Network partitioning</a:t>
            </a:r>
          </a:p>
          <a:p>
            <a:pPr>
              <a:buSzPct val="100000"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Availability </a:t>
            </a:r>
            <a:r>
              <a:rPr lang="en-US" dirty="0">
                <a:latin typeface="Helvetica" charset="0"/>
              </a:rPr>
              <a:t>of system</a:t>
            </a:r>
          </a:p>
          <a:p>
            <a:pPr lvl="1">
              <a:buSzPct val="100000"/>
            </a:pPr>
            <a:r>
              <a:rPr lang="en-US" dirty="0">
                <a:latin typeface="Helvetica" charset="0"/>
              </a:rPr>
              <a:t>If all nodes are required for system to function, failure of even one node stops system functioning.</a:t>
            </a:r>
          </a:p>
          <a:p>
            <a:pPr lvl="1"/>
            <a:r>
              <a:rPr lang="en-US" dirty="0">
                <a:latin typeface="Helvetica" charset="0"/>
              </a:rPr>
              <a:t>Higher system availability through redundancy</a:t>
            </a:r>
          </a:p>
          <a:p>
            <a:pPr lvl="2"/>
            <a:r>
              <a:rPr lang="en-US" dirty="0">
                <a:latin typeface="Helvetica" charset="0"/>
              </a:rPr>
              <a:t>data can be replicated at remote sites, and system can function even if a site fails.</a:t>
            </a:r>
          </a:p>
          <a:p>
            <a:pPr>
              <a:buSzPct val="100000"/>
            </a:pPr>
            <a:endParaRPr lang="en-US" b="1" dirty="0">
              <a:latin typeface="Helvetica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10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492897"/>
            <a:ext cx="8077200" cy="642884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Implementation Issues for Distributed Databases 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391477"/>
            <a:ext cx="7821227" cy="5078991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Atomicity needed even for transactions that update data at multiple sites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The 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two-phase commit protocol (2PC) </a:t>
            </a:r>
            <a:r>
              <a:rPr lang="en-US" dirty="0">
                <a:latin typeface="Helvetica" charset="0"/>
              </a:rPr>
              <a:t>is used to ensure atomicity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Basic idea:  each site executes transaction until just before commit, and the leaves final decision to a coordinator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Each site must follow decision of coordinator, even if there is a failure while waiting for coordinators decision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2PC is not always appropriate:  other transaction models based on persistent messaging, and workflows, are also used 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Distributed concurrency control (and deadlock detection) required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Data items may be replicated to improve data availability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Details of all above in Chapter 24</a:t>
            </a:r>
          </a:p>
          <a:p>
            <a:pPr>
              <a:buFont typeface="Monotype Sorts" charset="0"/>
              <a:buNone/>
            </a:pPr>
            <a:endParaRPr lang="en-US" dirty="0"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Cloud Based Services</a:t>
            </a:r>
          </a:p>
        </p:txBody>
      </p:sp>
      <p:sp>
        <p:nvSpPr>
          <p:cNvPr id="105474" name="Content Placeholder 2"/>
          <p:cNvSpPr>
            <a:spLocks noGrp="1"/>
          </p:cNvSpPr>
          <p:nvPr>
            <p:ph idx="1"/>
          </p:nvPr>
        </p:nvSpPr>
        <p:spPr>
          <a:xfrm>
            <a:off x="701336" y="1102497"/>
            <a:ext cx="7759083" cy="5367972"/>
          </a:xfrm>
          <a:prstGeom prst="rect">
            <a:avLst/>
          </a:prstGeom>
        </p:spPr>
        <p:txBody>
          <a:bodyPr/>
          <a:lstStyle/>
          <a:p>
            <a:pPr>
              <a:buSzPct val="100000"/>
            </a:pPr>
            <a:r>
              <a:rPr lang="en-US" dirty="0">
                <a:latin typeface="Helvetica" charset="0"/>
              </a:rPr>
              <a:t>Cloud computing widely adopted today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On-demand provisioning and </a:t>
            </a:r>
            <a:r>
              <a:rPr lang="en-US" b="1" dirty="0">
                <a:solidFill>
                  <a:srgbClr val="002060"/>
                </a:solidFill>
                <a:latin typeface="Helvetica" charset="0"/>
                <a:ea typeface="ＭＳ Ｐゴシック" charset="0"/>
              </a:rPr>
              <a:t>elasticity</a:t>
            </a:r>
          </a:p>
          <a:p>
            <a:pPr lvl="2"/>
            <a:r>
              <a:rPr lang="en-US" dirty="0">
                <a:latin typeface="Helvetica" charset="0"/>
                <a:ea typeface="ＭＳ Ｐゴシック" charset="0"/>
              </a:rPr>
              <a:t>ability to scale up at short notice and to release of unused resources for use by others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Infrastructure as a service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Virtual machines/real machines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Platform as a service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Storage, databases, application server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Software as a service 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Enterprise applications, emails, shared documents, </a:t>
            </a:r>
            <a:r>
              <a:rPr lang="en-US" dirty="0" err="1">
                <a:latin typeface="Helvetica" charset="0"/>
                <a:ea typeface="ＭＳ Ｐゴシック" charset="0"/>
              </a:rPr>
              <a:t>etc</a:t>
            </a:r>
            <a:r>
              <a:rPr lang="en-US" dirty="0">
                <a:latin typeface="Helvetica" charset="0"/>
                <a:ea typeface="ＭＳ Ｐゴシック" charset="0"/>
              </a:rPr>
              <a:t>,</a:t>
            </a:r>
          </a:p>
          <a:p>
            <a:pPr>
              <a:buSzPct val="100000"/>
            </a:pPr>
            <a:r>
              <a:rPr lang="en-US" dirty="0">
                <a:latin typeface="Helvetica" charset="0"/>
              </a:rPr>
              <a:t>Potential drawbacks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Security</a:t>
            </a:r>
          </a:p>
          <a:p>
            <a:pPr lvl="1"/>
            <a:r>
              <a:rPr lang="en-US" dirty="0">
                <a:latin typeface="Helvetica" charset="0"/>
                <a:ea typeface="ＭＳ Ｐゴシック" charset="0"/>
              </a:rPr>
              <a:t>Network bandwidth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Cloud Service Models</a:t>
            </a:r>
          </a:p>
        </p:txBody>
      </p:sp>
      <p:pic>
        <p:nvPicPr>
          <p:cNvPr id="106498" name="Picture 3" descr="21_10-eps-converted-to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093" y="727075"/>
            <a:ext cx="4518734" cy="565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3B52B-900B-467C-89EB-B3E8039C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Deployment Alternatives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EA86418-1D3A-4D4E-92A6-60AD2F244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31220" y="1646582"/>
            <a:ext cx="8642380" cy="35648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49180E-D638-4E56-8B0B-08CE4D92A256}"/>
              </a:ext>
            </a:extLst>
          </p:cNvPr>
          <p:cNvSpPr txBox="1"/>
          <p:nvPr/>
        </p:nvSpPr>
        <p:spPr>
          <a:xfrm>
            <a:off x="510139" y="5727032"/>
            <a:ext cx="833541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dirty="0"/>
              <a:t>Individual Machines                       Virtual Machines                         Containers</a:t>
            </a:r>
            <a:br>
              <a:rPr lang="en-IN" sz="1700" dirty="0"/>
            </a:br>
            <a:r>
              <a:rPr lang="en-IN" sz="1700" dirty="0"/>
              <a:t>                                                    (e.g. VMWare, KVM, ..)                (e.g. Docker) </a:t>
            </a:r>
          </a:p>
        </p:txBody>
      </p:sp>
    </p:spTree>
    <p:extLst>
      <p:ext uri="{BB962C8B-B14F-4D97-AF65-F5344CB8AC3E}">
        <p14:creationId xmlns:p14="http://schemas.microsoft.com/office/powerpoint/2010/main" val="305852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2B522-A7B8-4238-851C-7A66315FE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Deployment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1B5C2-8261-4136-94A2-CD86600BB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336" y="1102497"/>
            <a:ext cx="8144214" cy="5367972"/>
          </a:xfrm>
        </p:spPr>
        <p:txBody>
          <a:bodyPr/>
          <a:lstStyle/>
          <a:p>
            <a:r>
              <a:rPr lang="en-IN" dirty="0"/>
              <a:t>Services</a:t>
            </a:r>
          </a:p>
          <a:p>
            <a:r>
              <a:rPr lang="en-IN" dirty="0"/>
              <a:t>Microservice Architecture</a:t>
            </a:r>
          </a:p>
          <a:p>
            <a:pPr lvl="1"/>
            <a:r>
              <a:rPr lang="en-IN" dirty="0"/>
              <a:t>Application uses a variety of services</a:t>
            </a:r>
          </a:p>
          <a:p>
            <a:pPr lvl="1"/>
            <a:r>
              <a:rPr lang="en-IN" dirty="0"/>
              <a:t>Service can add or remove instances as required </a:t>
            </a:r>
          </a:p>
          <a:p>
            <a:r>
              <a:rPr lang="en-IN" dirty="0"/>
              <a:t>Kubernetes supports containers, and microservices</a:t>
            </a:r>
          </a:p>
        </p:txBody>
      </p:sp>
    </p:spTree>
    <p:extLst>
      <p:ext uri="{BB962C8B-B14F-4D97-AF65-F5344CB8AC3E}">
        <p14:creationId xmlns:p14="http://schemas.microsoft.com/office/powerpoint/2010/main" val="4052422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Helvetica" charset="0"/>
              </a:rPr>
              <a:t>End of Chapter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070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104921</TotalTime>
  <Words>2886</Words>
  <Application>Microsoft Office PowerPoint</Application>
  <PresentationFormat>On-screen Show (4:3)</PresentationFormat>
  <Paragraphs>355</Paragraphs>
  <Slides>48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  <vt:variant>
        <vt:lpstr>Custom Shows</vt:lpstr>
      </vt:variant>
      <vt:variant>
        <vt:i4>1</vt:i4>
      </vt:variant>
    </vt:vector>
  </HeadingPairs>
  <TitlesOfParts>
    <vt:vector size="60" baseType="lpstr">
      <vt:lpstr>ＭＳ Ｐゴシック</vt:lpstr>
      <vt:lpstr>ＭＳ Ｐゴシック</vt:lpstr>
      <vt:lpstr>Arial</vt:lpstr>
      <vt:lpstr>DejaVuSans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20: Database System Architectures </vt:lpstr>
      <vt:lpstr>Outline</vt:lpstr>
      <vt:lpstr>PowerPoint Presentation</vt:lpstr>
      <vt:lpstr>PowerPoint Presentation</vt:lpstr>
      <vt:lpstr>Centralized Database Systems</vt:lpstr>
      <vt:lpstr>Server System Architecture</vt:lpstr>
      <vt:lpstr>Transaction Servers</vt:lpstr>
      <vt:lpstr>Transaction System Processes (Cont.)</vt:lpstr>
      <vt:lpstr>Transaction Server Process Structure</vt:lpstr>
      <vt:lpstr>Transaction Server Processes (Cont.)</vt:lpstr>
      <vt:lpstr>Transaction System Processes (Cont.)</vt:lpstr>
      <vt:lpstr>Atomic Instructions</vt:lpstr>
      <vt:lpstr>PowerPoint Presentation</vt:lpstr>
      <vt:lpstr>Data Servers/Data Storage Systems</vt:lpstr>
      <vt:lpstr>Data Servers/Storage Systems (Cont.)</vt:lpstr>
      <vt:lpstr>Data Servers (Cont.)</vt:lpstr>
      <vt:lpstr>Parallel Systems</vt:lpstr>
      <vt:lpstr>Parallel Systems (Cont.)</vt:lpstr>
      <vt:lpstr>Speed-Up and Scale-Up</vt:lpstr>
      <vt:lpstr>Speedup</vt:lpstr>
      <vt:lpstr>Scaleup</vt:lpstr>
      <vt:lpstr>Batch and Transaction Scaleup</vt:lpstr>
      <vt:lpstr>Factors Limiting Speedup and Scaleup</vt:lpstr>
      <vt:lpstr>Interconnection Network Architectures</vt:lpstr>
      <vt:lpstr>Interconnection Architectures</vt:lpstr>
      <vt:lpstr>Interconnection Network Architectures</vt:lpstr>
      <vt:lpstr>Network Technologies </vt:lpstr>
      <vt:lpstr>Parallel Database Architectures</vt:lpstr>
      <vt:lpstr>Shared Memory</vt:lpstr>
      <vt:lpstr>Modern Shared Memory Architecture</vt:lpstr>
      <vt:lpstr>Cache Levels</vt:lpstr>
      <vt:lpstr>Cache Coherency</vt:lpstr>
      <vt:lpstr>Shared Disk</vt:lpstr>
      <vt:lpstr>Storage Area Network (SAN)</vt:lpstr>
      <vt:lpstr>Shared Nothing</vt:lpstr>
      <vt:lpstr>Hierarchical</vt:lpstr>
      <vt:lpstr>Shared-Memory Vs Shared-Nothing</vt:lpstr>
      <vt:lpstr>Distributed Systems</vt:lpstr>
      <vt:lpstr>Distributed Databases</vt:lpstr>
      <vt:lpstr>Data Integration and Distributed Databases</vt:lpstr>
      <vt:lpstr>Availability</vt:lpstr>
      <vt:lpstr>Implementation Issues for Distributed Databases </vt:lpstr>
      <vt:lpstr>Cloud Based Services</vt:lpstr>
      <vt:lpstr>Cloud Service Models</vt:lpstr>
      <vt:lpstr>Application Deployment Alternatives</vt:lpstr>
      <vt:lpstr>Application Deployment Architectures</vt:lpstr>
      <vt:lpstr>End of Chapter 20</vt:lpstr>
      <vt:lpstr>PowerPoint Presentation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HP</cp:lastModifiedBy>
  <cp:revision>580</cp:revision>
  <cp:lastPrinted>1999-06-28T19:27:31Z</cp:lastPrinted>
  <dcterms:created xsi:type="dcterms:W3CDTF">2009-12-21T15:40:22Z</dcterms:created>
  <dcterms:modified xsi:type="dcterms:W3CDTF">2025-11-18T04:30:47Z</dcterms:modified>
</cp:coreProperties>
</file>